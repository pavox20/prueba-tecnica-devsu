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824"/>
    <p:restoredTop sz="95385"/>
  </p:normalViewPr>
  <p:slideViewPr>
    <p:cSldViewPr snapToGrid="0">
      <p:cViewPr>
        <p:scale>
          <a:sx n="120" d="100"/>
          <a:sy n="120" d="100"/>
        </p:scale>
        <p:origin x="1072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31F5D-AF11-AD4B-8AB8-CBDF7A047AA8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BFFAE-030E-804C-A225-984C731D58C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8732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BFFAE-030E-804C-A225-984C731D58C2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3833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BD43-D537-B6CB-A041-40BA50FA0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CFB52-6489-A9E3-DAD3-AF2AB8E74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3F9A5-D18F-E481-1539-1B853787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E9128-EB76-C841-9054-8EF868F8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5636-90DA-FA1E-1B33-74B317D6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983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CEEE-EBA5-F65C-38B6-8781B45E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4B76D-B14F-6303-F487-A7F10F0AE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4906-F45E-CBEC-DEB9-97136809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8348-184D-2AC7-9C5E-2FBAF548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B654E-33C4-E161-9E84-D87C85C3C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756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6943-3E26-6285-888D-30AF752E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D0CC4-8AE8-E05B-06E2-653AC527B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AB23F-C5F0-9607-7BE0-A700BEF4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5FD2B-586A-E8AD-72D7-D4337A85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DE3DD-2CD8-CA86-037E-1E44C2C5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121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FB48-9BB2-3626-42DB-68C22AD9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C462-2399-FAB7-2D35-CD3904EBD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910B4-6D28-208F-ACC7-66A15AA23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4FE84-B360-6EE5-E48B-168F5931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6352-97D2-F3F0-D55A-92EA5285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9E500-5D62-D939-9FC4-6A304432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317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B5AA-EA5F-B5C1-481E-6A2CE4FE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6D559-FACA-6612-E56A-76260863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CB371-B7D1-478F-91A0-C760F486B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EA134-A4D0-A7DA-3718-9D23DF502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EF6A8-5F3E-E727-6335-76A20A31C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2C73C-C1B1-DAFF-7E1F-09115D50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DA3EB-CE37-32BD-BEA1-843450C9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215FA-A949-D2EF-3D0D-CFFD6934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5621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4D27-55F1-9367-D4F3-089D70F3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0E8DB-F11F-80C7-8508-31691409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D807C-5121-D362-E56B-B140EED7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EFC2E-3FBF-21B7-2554-951DC46E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564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A0ACD-C446-CB63-7438-ACCBD10C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0E718-A795-BDE5-DE82-D9DAB2D2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5B24-B769-89F1-CDB4-9B6C9796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784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C361-077E-CA40-89BE-007F6068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AD79-205A-0D7A-0581-9B335055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203C7-BB9D-879A-BAF7-210F21B78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08C72-0D84-9366-6B3F-10F23771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B4C71-2A98-2F7D-5ED2-7BD3B1B8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CD715-75B3-0438-4BAF-66BBCB26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777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70BA-FBBC-D27A-E736-44A61A18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A0091-63BF-8065-2E6C-82174A99D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FAAEC-444D-062E-C8E8-E0FDCF322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D610-FDD4-F122-1C58-74E85EC09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99D6E-6889-92D2-87A2-6F5CD8CC0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1560-06F4-6E60-2F10-5C60A501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704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5D85-06A5-E6E4-0B87-CA0D1D79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BC8A8-2E4A-E9A7-430B-12BC1EE8A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13CF0-FB57-3186-0DE9-5E9CD2F73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BB94-31A4-B87D-CA59-5975E9CD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77252-DA3B-A291-323B-8F1E078E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305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A9645-E023-CF62-58A1-A9F6A901A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D79F0-0140-FAA5-2189-FBB2B38A2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5209-DF6E-C989-2213-2F007955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9E476-4E45-46EE-92E7-289E5705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8960-A5CB-EA4E-F984-F2ECA716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728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530CA-E920-59D5-4377-680E0E382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0CCA7-3D95-A4FA-5346-37ED66820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FABCF-03F0-A3A1-526A-576B00013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4AC8C-0F12-5E49-B5C1-CC1E1FE192F5}" type="datetimeFigureOut">
              <a:rPr lang="es-ES_tradnl" smtClean="0"/>
              <a:t>25/11/25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9519E-C573-70E6-27AE-6BA20F521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AD08D-1A05-F57E-4FF0-FCED917E8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1A0D-2F2F-F740-895A-6A94B0DF181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504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9" name="Straight Arrow Connector 468" descr="Left pointing horizontal arrow. ">
            <a:extLst>
              <a:ext uri="{FF2B5EF4-FFF2-40B4-BE49-F238E27FC236}">
                <a16:creationId xmlns:a16="http://schemas.microsoft.com/office/drawing/2014/main" id="{63726508-7711-1D8F-A29C-1A69EEF264FC}"/>
              </a:ext>
            </a:extLst>
          </p:cNvPr>
          <p:cNvCxnSpPr>
            <a:cxnSpLocks/>
            <a:stCxn id="460" idx="3"/>
            <a:endCxn id="74" idx="1"/>
          </p:cNvCxnSpPr>
          <p:nvPr/>
        </p:nvCxnSpPr>
        <p:spPr>
          <a:xfrm>
            <a:off x="1953793" y="3375484"/>
            <a:ext cx="1248949" cy="73467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 descr="Double pointing horizontal arrow.">
            <a:extLst>
              <a:ext uri="{FF2B5EF4-FFF2-40B4-BE49-F238E27FC236}">
                <a16:creationId xmlns:a16="http://schemas.microsoft.com/office/drawing/2014/main" id="{C1080A54-63A2-BD80-3B7B-44C34E0E2EDB}"/>
              </a:ext>
            </a:extLst>
          </p:cNvPr>
          <p:cNvCxnSpPr>
            <a:cxnSpLocks/>
            <a:endCxn id="80" idx="3"/>
          </p:cNvCxnSpPr>
          <p:nvPr/>
        </p:nvCxnSpPr>
        <p:spPr>
          <a:xfrm flipH="1">
            <a:off x="4916270" y="4869020"/>
            <a:ext cx="4127072" cy="18385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 descr="AWS Cloud group with AWS logo.">
            <a:extLst>
              <a:ext uri="{FF2B5EF4-FFF2-40B4-BE49-F238E27FC236}">
                <a16:creationId xmlns:a16="http://schemas.microsoft.com/office/drawing/2014/main" id="{585C4E22-48DD-564B-0EB6-99602526B08D}"/>
              </a:ext>
            </a:extLst>
          </p:cNvPr>
          <p:cNvGrpSpPr/>
          <p:nvPr/>
        </p:nvGrpSpPr>
        <p:grpSpPr>
          <a:xfrm>
            <a:off x="363817" y="860613"/>
            <a:ext cx="11464366" cy="5158448"/>
            <a:chOff x="355599" y="134469"/>
            <a:chExt cx="11464366" cy="630667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A890DB-905A-857B-6AD8-412AE4B743DA}"/>
                </a:ext>
              </a:extLst>
            </p:cNvPr>
            <p:cNvSpPr/>
            <p:nvPr/>
          </p:nvSpPr>
          <p:spPr>
            <a:xfrm>
              <a:off x="355599" y="134471"/>
              <a:ext cx="11464366" cy="630667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10" name="Graphic 9" descr="AWS Cloud group icon with AWS logo.">
              <a:extLst>
                <a:ext uri="{FF2B5EF4-FFF2-40B4-BE49-F238E27FC236}">
                  <a16:creationId xmlns:a16="http://schemas.microsoft.com/office/drawing/2014/main" id="{EA5772EC-0A84-0318-16E2-70C767168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55599" y="134469"/>
              <a:ext cx="469749" cy="547095"/>
            </a:xfrm>
            <a:prstGeom prst="rect">
              <a:avLst/>
            </a:prstGeom>
          </p:spPr>
        </p:pic>
      </p:grpSp>
      <p:pic>
        <p:nvPicPr>
          <p:cNvPr id="11" name="Graphic 21" descr="Amazon Route 53 service icon.">
            <a:extLst>
              <a:ext uri="{FF2B5EF4-FFF2-40B4-BE49-F238E27FC236}">
                <a16:creationId xmlns:a16="http://schemas.microsoft.com/office/drawing/2014/main" id="{1013C508-747A-8F31-69FF-BDF56FBA7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9162957" y="957979"/>
            <a:ext cx="402993" cy="40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AE5DE2EF-0FC2-83D1-80AF-8036E587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0091" y="1360972"/>
            <a:ext cx="146872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900" noProof="0" dirty="0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15" name="Graphic 14" descr="Client resource icon for the General Icons category.">
            <a:extLst>
              <a:ext uri="{FF2B5EF4-FFF2-40B4-BE49-F238E27FC236}">
                <a16:creationId xmlns:a16="http://schemas.microsoft.com/office/drawing/2014/main" id="{DF0F2D8B-FCA3-919A-812C-9080424188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9768" y="168245"/>
            <a:ext cx="457200" cy="457200"/>
          </a:xfrm>
          <a:prstGeom prst="rect">
            <a:avLst/>
          </a:prstGeom>
        </p:spPr>
      </p:pic>
      <p:pic>
        <p:nvPicPr>
          <p:cNvPr id="16" name="Graphic 15" descr="Mobile client resource icon for the General Icons category.">
            <a:extLst>
              <a:ext uri="{FF2B5EF4-FFF2-40B4-BE49-F238E27FC236}">
                <a16:creationId xmlns:a16="http://schemas.microsoft.com/office/drawing/2014/main" id="{BBDE9B33-061D-DF50-74F9-CAB7EF83D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5672" y="143057"/>
            <a:ext cx="457200" cy="457200"/>
          </a:xfrm>
          <a:prstGeom prst="rect">
            <a:avLst/>
          </a:prstGeom>
        </p:spPr>
      </p:pic>
      <p:sp>
        <p:nvSpPr>
          <p:cNvPr id="17" name="TextBox 25">
            <a:extLst>
              <a:ext uri="{FF2B5EF4-FFF2-40B4-BE49-F238E27FC236}">
                <a16:creationId xmlns:a16="http://schemas.microsoft.com/office/drawing/2014/main" id="{DAD36F04-FBFF-B5F4-8249-DF30463EA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0679" y="175397"/>
            <a:ext cx="6712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200" noProof="0" dirty="0">
                <a:latin typeface="Aptos" panose="020B00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01" name="TextBox 17">
            <a:extLst>
              <a:ext uri="{FF2B5EF4-FFF2-40B4-BE49-F238E27FC236}">
                <a16:creationId xmlns:a16="http://schemas.microsoft.com/office/drawing/2014/main" id="{EC2E0879-F43C-793B-786C-D6F614BA5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8705" y="6627168"/>
            <a:ext cx="27009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900" noProof="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On-premises Bank Services and other services</a:t>
            </a:r>
          </a:p>
        </p:txBody>
      </p:sp>
      <p:cxnSp>
        <p:nvCxnSpPr>
          <p:cNvPr id="113" name="Straight Arrow Connector 112" descr="Right pointing horizontal arrow.">
            <a:extLst>
              <a:ext uri="{FF2B5EF4-FFF2-40B4-BE49-F238E27FC236}">
                <a16:creationId xmlns:a16="http://schemas.microsoft.com/office/drawing/2014/main" id="{C986016B-4CE7-5111-D507-9301D1734E79}"/>
              </a:ext>
            </a:extLst>
          </p:cNvPr>
          <p:cNvCxnSpPr>
            <a:cxnSpLocks/>
            <a:stCxn id="197" idx="2"/>
            <a:endCxn id="11" idx="0"/>
          </p:cNvCxnSpPr>
          <p:nvPr/>
        </p:nvCxnSpPr>
        <p:spPr>
          <a:xfrm>
            <a:off x="5889979" y="625445"/>
            <a:ext cx="3474475" cy="332534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 descr="Right pointing horizontal arrow.">
            <a:extLst>
              <a:ext uri="{FF2B5EF4-FFF2-40B4-BE49-F238E27FC236}">
                <a16:creationId xmlns:a16="http://schemas.microsoft.com/office/drawing/2014/main" id="{6BE26A9B-8E55-8A61-F5DE-09D86C2E2EBE}"/>
              </a:ext>
            </a:extLst>
          </p:cNvPr>
          <p:cNvCxnSpPr>
            <a:cxnSpLocks/>
            <a:stCxn id="197" idx="2"/>
            <a:endCxn id="23" idx="0"/>
          </p:cNvCxnSpPr>
          <p:nvPr/>
        </p:nvCxnSpPr>
        <p:spPr>
          <a:xfrm flipH="1">
            <a:off x="2856440" y="625445"/>
            <a:ext cx="3033539" cy="55086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 descr="Right pointing horizontal arrow.">
            <a:extLst>
              <a:ext uri="{FF2B5EF4-FFF2-40B4-BE49-F238E27FC236}">
                <a16:creationId xmlns:a16="http://schemas.microsoft.com/office/drawing/2014/main" id="{9F022C71-216F-CAF0-CA16-B7443D7BA67E}"/>
              </a:ext>
            </a:extLst>
          </p:cNvPr>
          <p:cNvCxnSpPr>
            <a:cxnSpLocks/>
            <a:stCxn id="197" idx="2"/>
            <a:endCxn id="60" idx="0"/>
          </p:cNvCxnSpPr>
          <p:nvPr/>
        </p:nvCxnSpPr>
        <p:spPr>
          <a:xfrm flipH="1">
            <a:off x="4253966" y="625445"/>
            <a:ext cx="1636013" cy="1355265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4299B8E-F838-2CE6-00E6-D12EAF905805}"/>
              </a:ext>
            </a:extLst>
          </p:cNvPr>
          <p:cNvSpPr/>
          <p:nvPr/>
        </p:nvSpPr>
        <p:spPr bwMode="auto">
          <a:xfrm>
            <a:off x="4518629" y="127715"/>
            <a:ext cx="2742700" cy="4977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noProof="0" dirty="0">
              <a:solidFill>
                <a:schemeClr val="tx1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ABFD59F-FB3F-684B-7691-D95943C5103D}"/>
              </a:ext>
            </a:extLst>
          </p:cNvPr>
          <p:cNvGrpSpPr/>
          <p:nvPr/>
        </p:nvGrpSpPr>
        <p:grpSpPr>
          <a:xfrm>
            <a:off x="6875624" y="1713097"/>
            <a:ext cx="4782706" cy="4284288"/>
            <a:chOff x="2276848" y="1672341"/>
            <a:chExt cx="4782706" cy="4284288"/>
          </a:xfrm>
        </p:grpSpPr>
        <p:sp>
          <p:nvSpPr>
            <p:cNvPr id="216" name="Rectangle 215" descr="Availability Zone 1 represented by availability zone resource group.">
              <a:extLst>
                <a:ext uri="{FF2B5EF4-FFF2-40B4-BE49-F238E27FC236}">
                  <a16:creationId xmlns:a16="http://schemas.microsoft.com/office/drawing/2014/main" id="{7A7C81F1-120D-A1CC-E726-4C1CBF94F234}"/>
                </a:ext>
              </a:extLst>
            </p:cNvPr>
            <p:cNvSpPr/>
            <p:nvPr/>
          </p:nvSpPr>
          <p:spPr bwMode="auto">
            <a:xfrm>
              <a:off x="2276848" y="1672379"/>
              <a:ext cx="4732656" cy="428425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>
                <a:defRPr/>
              </a:pPr>
              <a:endParaRPr lang="en-US" sz="9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7F107ADF-7752-AEAF-B421-1BBB999C35EF}"/>
                </a:ext>
              </a:extLst>
            </p:cNvPr>
            <p:cNvSpPr/>
            <p:nvPr/>
          </p:nvSpPr>
          <p:spPr bwMode="auto">
            <a:xfrm>
              <a:off x="3221061" y="2116130"/>
              <a:ext cx="3722606" cy="376088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BD7ED34-DB12-C4AF-E73A-D745B629F501}"/>
                </a:ext>
              </a:extLst>
            </p:cNvPr>
            <p:cNvSpPr txBox="1"/>
            <p:nvPr/>
          </p:nvSpPr>
          <p:spPr>
            <a:xfrm>
              <a:off x="4463814" y="246703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noProof="0" dirty="0">
                <a:latin typeface="Aptos" panose="020B0004020202020204" pitchFamily="34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3C49DB5-E1F8-5735-DE28-C13AE95CB328}"/>
                </a:ext>
              </a:extLst>
            </p:cNvPr>
            <p:cNvSpPr txBox="1"/>
            <p:nvPr/>
          </p:nvSpPr>
          <p:spPr>
            <a:xfrm>
              <a:off x="4470831" y="2146238"/>
              <a:ext cx="105670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VPC (10.0.0.0/16)</a:t>
              </a:r>
            </a:p>
          </p:txBody>
        </p:sp>
        <p:sp>
          <p:nvSpPr>
            <p:cNvPr id="220" name="Rectangle 219" descr="Availability Zone 1 represented by availability zone resource group.">
              <a:extLst>
                <a:ext uri="{FF2B5EF4-FFF2-40B4-BE49-F238E27FC236}">
                  <a16:creationId xmlns:a16="http://schemas.microsoft.com/office/drawing/2014/main" id="{5736AACE-F6DD-9F49-935D-250444E567AF}"/>
                </a:ext>
              </a:extLst>
            </p:cNvPr>
            <p:cNvSpPr/>
            <p:nvPr/>
          </p:nvSpPr>
          <p:spPr bwMode="auto">
            <a:xfrm>
              <a:off x="3287076" y="2408167"/>
              <a:ext cx="1723605" cy="3397829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Availability Zone A</a:t>
              </a:r>
            </a:p>
          </p:txBody>
        </p:sp>
        <p:sp>
          <p:nvSpPr>
            <p:cNvPr id="221" name="Rectangle 220" descr="Availability Zone 1 represented by availability zone resource group.">
              <a:extLst>
                <a:ext uri="{FF2B5EF4-FFF2-40B4-BE49-F238E27FC236}">
                  <a16:creationId xmlns:a16="http://schemas.microsoft.com/office/drawing/2014/main" id="{95B13201-EE9C-222A-87FC-AB72CDED29FB}"/>
                </a:ext>
              </a:extLst>
            </p:cNvPr>
            <p:cNvSpPr/>
            <p:nvPr/>
          </p:nvSpPr>
          <p:spPr bwMode="auto">
            <a:xfrm>
              <a:off x="5098888" y="2408166"/>
              <a:ext cx="1723605" cy="339783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Availability Zone B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7B50FC6-9552-D2C9-8D00-17EDDF212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2046" y="2695953"/>
              <a:ext cx="1576752" cy="710163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A1227970-51E1-5404-8402-8FD71135C48E}"/>
                </a:ext>
              </a:extLst>
            </p:cNvPr>
            <p:cNvSpPr txBox="1"/>
            <p:nvPr/>
          </p:nvSpPr>
          <p:spPr>
            <a:xfrm>
              <a:off x="3632232" y="2672754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Public subnet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D75DE40-4A2A-D756-14EB-DE02F6F66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2946" y="2695953"/>
              <a:ext cx="1595232" cy="703883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B0C858E-BA67-78BE-6794-D78A04A83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41842" y="3471597"/>
              <a:ext cx="1592493" cy="2255474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89FFDBDA-6267-95D0-F47A-C196FD17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2946" y="3476639"/>
              <a:ext cx="1595232" cy="2258337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5F01A3F-F5D6-13B2-9FED-E7CFD943C8C4}"/>
                </a:ext>
              </a:extLst>
            </p:cNvPr>
            <p:cNvSpPr txBox="1"/>
            <p:nvPr/>
          </p:nvSpPr>
          <p:spPr>
            <a:xfrm>
              <a:off x="5520550" y="2680150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Public subnet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0D8E7BCD-9DFE-C793-3CD5-1536A17343FB}"/>
                </a:ext>
              </a:extLst>
            </p:cNvPr>
            <p:cNvSpPr txBox="1"/>
            <p:nvPr/>
          </p:nvSpPr>
          <p:spPr>
            <a:xfrm>
              <a:off x="3601776" y="3454248"/>
              <a:ext cx="8996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Private subnet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566AE4E9-1C3E-6052-3A02-D2996D2D964A}"/>
                </a:ext>
              </a:extLst>
            </p:cNvPr>
            <p:cNvSpPr txBox="1"/>
            <p:nvPr/>
          </p:nvSpPr>
          <p:spPr>
            <a:xfrm>
              <a:off x="5467835" y="3457234"/>
              <a:ext cx="8996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Private subnet</a:t>
              </a:r>
            </a:p>
          </p:txBody>
        </p:sp>
        <p:grpSp>
          <p:nvGrpSpPr>
            <p:cNvPr id="230" name="1.natGateway" descr="First Nat gateway resource icon, with the Nate gateway label below it. The resource is in Availability Zone 1.">
              <a:extLst>
                <a:ext uri="{FF2B5EF4-FFF2-40B4-BE49-F238E27FC236}">
                  <a16:creationId xmlns:a16="http://schemas.microsoft.com/office/drawing/2014/main" id="{2026E426-A322-3224-F322-929CE2CC6F33}"/>
                </a:ext>
              </a:extLst>
            </p:cNvPr>
            <p:cNvGrpSpPr/>
            <p:nvPr/>
          </p:nvGrpSpPr>
          <p:grpSpPr>
            <a:xfrm>
              <a:off x="3665463" y="2900986"/>
              <a:ext cx="869149" cy="434026"/>
              <a:chOff x="2643898" y="4862255"/>
              <a:chExt cx="1234766" cy="545547"/>
            </a:xfrm>
          </p:grpSpPr>
          <p:sp>
            <p:nvSpPr>
              <p:cNvPr id="273" name="TextBox 17">
                <a:extLst>
                  <a:ext uri="{FF2B5EF4-FFF2-40B4-BE49-F238E27FC236}">
                    <a16:creationId xmlns:a16="http://schemas.microsoft.com/office/drawing/2014/main" id="{6BE2CE38-E8EA-4262-4CE9-58CF1C199C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3898" y="5117659"/>
                <a:ext cx="1234766" cy="290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9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  <p:pic>
            <p:nvPicPr>
              <p:cNvPr id="274" name="Graphic 35">
                <a:extLst>
                  <a:ext uri="{FF2B5EF4-FFF2-40B4-BE49-F238E27FC236}">
                    <a16:creationId xmlns:a16="http://schemas.microsoft.com/office/drawing/2014/main" id="{95400786-5311-98DF-8C16-4B961811AA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3058319" y="4862255"/>
                <a:ext cx="386090" cy="350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1" name="1.natGateway" descr="First Nat gateway resource icon, with the Nate gateway label below it. The resource is in Availability Zone 1.">
              <a:extLst>
                <a:ext uri="{FF2B5EF4-FFF2-40B4-BE49-F238E27FC236}">
                  <a16:creationId xmlns:a16="http://schemas.microsoft.com/office/drawing/2014/main" id="{1C3F3CE7-9B5B-93B1-578D-E4A29DE61AE2}"/>
                </a:ext>
              </a:extLst>
            </p:cNvPr>
            <p:cNvGrpSpPr/>
            <p:nvPr/>
          </p:nvGrpSpPr>
          <p:grpSpPr>
            <a:xfrm>
              <a:off x="5520550" y="2906028"/>
              <a:ext cx="869149" cy="434026"/>
              <a:chOff x="2643898" y="4862255"/>
              <a:chExt cx="1234766" cy="545547"/>
            </a:xfrm>
          </p:grpSpPr>
          <p:sp>
            <p:nvSpPr>
              <p:cNvPr id="271" name="TextBox 17">
                <a:extLst>
                  <a:ext uri="{FF2B5EF4-FFF2-40B4-BE49-F238E27FC236}">
                    <a16:creationId xmlns:a16="http://schemas.microsoft.com/office/drawing/2014/main" id="{0EC358D2-FB95-1DF9-DA7E-1900D32889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3898" y="5117659"/>
                <a:ext cx="1234766" cy="290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9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  <p:pic>
            <p:nvPicPr>
              <p:cNvPr id="272" name="Graphic 35">
                <a:extLst>
                  <a:ext uri="{FF2B5EF4-FFF2-40B4-BE49-F238E27FC236}">
                    <a16:creationId xmlns:a16="http://schemas.microsoft.com/office/drawing/2014/main" id="{55FF0FC9-1D25-79EB-EBF3-56DB76C98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3058319" y="4862255"/>
                <a:ext cx="386090" cy="350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32" name="Graphic 231" descr="Application Load Balancer resource icon for the Elastic Load Balancing service.">
              <a:extLst>
                <a:ext uri="{FF2B5EF4-FFF2-40B4-BE49-F238E27FC236}">
                  <a16:creationId xmlns:a16="http://schemas.microsoft.com/office/drawing/2014/main" id="{E38CE7CC-AEFB-DEA3-9E4A-1FE51862C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95809" y="2734723"/>
              <a:ext cx="531627" cy="531627"/>
            </a:xfrm>
            <a:prstGeom prst="rect">
              <a:avLst/>
            </a:prstGeom>
          </p:spPr>
        </p:pic>
        <p:pic>
          <p:nvPicPr>
            <p:cNvPr id="233" name="Graphic 10" descr="Internet gateway resource icon for the Amazon VPC service.">
              <a:extLst>
                <a:ext uri="{FF2B5EF4-FFF2-40B4-BE49-F238E27FC236}">
                  <a16:creationId xmlns:a16="http://schemas.microsoft.com/office/drawing/2014/main" id="{15CABEA3-4658-F218-5CE3-C6137CD6A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4931884" y="1941453"/>
              <a:ext cx="251641" cy="25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9AF11BFC-9E6E-E6EF-872F-F631CF15060A}"/>
                </a:ext>
              </a:extLst>
            </p:cNvPr>
            <p:cNvSpPr txBox="1"/>
            <p:nvPr/>
          </p:nvSpPr>
          <p:spPr>
            <a:xfrm>
              <a:off x="5299136" y="1672341"/>
              <a:ext cx="17604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noProof="0" dirty="0">
                  <a:latin typeface="Aptos" panose="020B0004020202020204" pitchFamily="34" charset="0"/>
                </a:rPr>
                <a:t>Region B (Recovery)-us-west-1</a:t>
              </a:r>
              <a:endParaRPr lang="en-US" sz="900" noProof="0" dirty="0"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TextBox 12">
              <a:extLst>
                <a:ext uri="{FF2B5EF4-FFF2-40B4-BE49-F238E27FC236}">
                  <a16:creationId xmlns:a16="http://schemas.microsoft.com/office/drawing/2014/main" id="{435685A2-525F-1F82-8830-F65EDB6CC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043" y="3265705"/>
              <a:ext cx="146872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9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ALB</a:t>
              </a:r>
            </a:p>
          </p:txBody>
        </p:sp>
        <p:pic>
          <p:nvPicPr>
            <p:cNvPr id="236" name="Graphic 23" descr="Amazon Elastic Kubernetes Service (Amazon EKS) Service icon.">
              <a:extLst>
                <a:ext uri="{FF2B5EF4-FFF2-40B4-BE49-F238E27FC236}">
                  <a16:creationId xmlns:a16="http://schemas.microsoft.com/office/drawing/2014/main" id="{F2BF591C-7C3D-F2F2-E524-2CCC95D44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3436606" y="3710333"/>
              <a:ext cx="198850" cy="198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73970A90-2BA7-9A85-7E1D-1DFB18ECD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34282" y="3703489"/>
              <a:ext cx="3231408" cy="756624"/>
            </a:xfrm>
            <a:prstGeom prst="rect">
              <a:avLst/>
            </a:prstGeom>
            <a:noFill/>
            <a:ln w="15875">
              <a:solidFill>
                <a:srgbClr val="ED71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9" name="3-Instance" descr="Instance resource icon, with the Instance label below it. The resource is in first autoscaling group, and in Availability Zone2.">
              <a:extLst>
                <a:ext uri="{FF2B5EF4-FFF2-40B4-BE49-F238E27FC236}">
                  <a16:creationId xmlns:a16="http://schemas.microsoft.com/office/drawing/2014/main" id="{7A0CB5A8-61A2-2523-AD3B-4B7E9AC1C766}"/>
                </a:ext>
              </a:extLst>
            </p:cNvPr>
            <p:cNvGrpSpPr/>
            <p:nvPr/>
          </p:nvGrpSpPr>
          <p:grpSpPr>
            <a:xfrm>
              <a:off x="4006481" y="3928671"/>
              <a:ext cx="1019960" cy="284456"/>
              <a:chOff x="5951092" y="3194557"/>
              <a:chExt cx="1452198" cy="611323"/>
            </a:xfrm>
          </p:grpSpPr>
          <p:pic>
            <p:nvPicPr>
              <p:cNvPr id="269" name="Graphic 60">
                <a:extLst>
                  <a:ext uri="{FF2B5EF4-FFF2-40B4-BE49-F238E27FC236}">
                    <a16:creationId xmlns:a16="http://schemas.microsoft.com/office/drawing/2014/main" id="{F34D57CE-E581-3EB9-DE97-FC2AFF7474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 bwMode="auto">
              <a:xfrm>
                <a:off x="5951092" y="3194557"/>
                <a:ext cx="457200" cy="611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0" name="TextBox 16">
                <a:extLst>
                  <a:ext uri="{FF2B5EF4-FFF2-40B4-BE49-F238E27FC236}">
                    <a16:creationId xmlns:a16="http://schemas.microsoft.com/office/drawing/2014/main" id="{EA57195E-FF6C-70F5-7582-900788216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7722" y="3291728"/>
                <a:ext cx="1115568" cy="42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7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Worker Nodes</a:t>
                </a:r>
              </a:p>
            </p:txBody>
          </p:sp>
        </p:grpSp>
        <p:grpSp>
          <p:nvGrpSpPr>
            <p:cNvPr id="240" name="3-Instance" descr="Instance resource icon, with the Instance label below it. The resource is in first autoscaling group, and in Availability Zone2.">
              <a:extLst>
                <a:ext uri="{FF2B5EF4-FFF2-40B4-BE49-F238E27FC236}">
                  <a16:creationId xmlns:a16="http://schemas.microsoft.com/office/drawing/2014/main" id="{F937F21E-C58E-32AF-BF26-C6F7B3648D3A}"/>
                </a:ext>
              </a:extLst>
            </p:cNvPr>
            <p:cNvGrpSpPr/>
            <p:nvPr/>
          </p:nvGrpSpPr>
          <p:grpSpPr>
            <a:xfrm>
              <a:off x="5111580" y="3942016"/>
              <a:ext cx="1006201" cy="284456"/>
              <a:chOff x="5417944" y="3265116"/>
              <a:chExt cx="1432608" cy="611323"/>
            </a:xfrm>
          </p:grpSpPr>
          <p:pic>
            <p:nvPicPr>
              <p:cNvPr id="267" name="Graphic 60">
                <a:extLst>
                  <a:ext uri="{FF2B5EF4-FFF2-40B4-BE49-F238E27FC236}">
                    <a16:creationId xmlns:a16="http://schemas.microsoft.com/office/drawing/2014/main" id="{997DD158-C1B2-873E-7463-1541595C0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 bwMode="auto">
              <a:xfrm>
                <a:off x="6393352" y="3265116"/>
                <a:ext cx="457200" cy="611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8" name="TextBox 16">
                <a:extLst>
                  <a:ext uri="{FF2B5EF4-FFF2-40B4-BE49-F238E27FC236}">
                    <a16:creationId xmlns:a16="http://schemas.microsoft.com/office/drawing/2014/main" id="{CC73EC41-2233-700B-2A84-9323E6F02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7944" y="3338338"/>
                <a:ext cx="1115568" cy="42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7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Worker Nodes</a:t>
                </a:r>
              </a:p>
            </p:txBody>
          </p:sp>
        </p:grpSp>
        <p:pic>
          <p:nvPicPr>
            <p:cNvPr id="241" name="Graphic 7" descr="Amazon Aurora service icon.">
              <a:extLst>
                <a:ext uri="{FF2B5EF4-FFF2-40B4-BE49-F238E27FC236}">
                  <a16:creationId xmlns:a16="http://schemas.microsoft.com/office/drawing/2014/main" id="{8EDD538B-F440-24EE-4E1B-A6EA06EE4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 bwMode="auto">
            <a:xfrm>
              <a:off x="4444566" y="4671303"/>
              <a:ext cx="338555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Graphic 7" descr="Amazon Aurora service icon.">
              <a:extLst>
                <a:ext uri="{FF2B5EF4-FFF2-40B4-BE49-F238E27FC236}">
                  <a16:creationId xmlns:a16="http://schemas.microsoft.com/office/drawing/2014/main" id="{B2EBFDBC-3F22-712E-079C-CFEBD93634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 bwMode="auto">
            <a:xfrm>
              <a:off x="5386439" y="4681363"/>
              <a:ext cx="333570" cy="333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TextBox 16">
              <a:extLst>
                <a:ext uri="{FF2B5EF4-FFF2-40B4-BE49-F238E27FC236}">
                  <a16:creationId xmlns:a16="http://schemas.microsoft.com/office/drawing/2014/main" id="{1E6B98C2-A270-D7C3-B517-DB12262E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5897" y="4480263"/>
              <a:ext cx="500767" cy="21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Writer</a:t>
              </a:r>
            </a:p>
          </p:txBody>
        </p:sp>
        <p:sp>
          <p:nvSpPr>
            <p:cNvPr id="244" name="TextBox 16">
              <a:extLst>
                <a:ext uri="{FF2B5EF4-FFF2-40B4-BE49-F238E27FC236}">
                  <a16:creationId xmlns:a16="http://schemas.microsoft.com/office/drawing/2014/main" id="{772943FD-4037-A67B-E813-86058B053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514" y="4464975"/>
              <a:ext cx="343111" cy="218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Reader</a:t>
              </a:r>
            </a:p>
          </p:txBody>
        </p:sp>
        <p:cxnSp>
          <p:nvCxnSpPr>
            <p:cNvPr id="245" name="Straight Arrow Connector 244" descr="Right pointing horizontal arrow.">
              <a:extLst>
                <a:ext uri="{FF2B5EF4-FFF2-40B4-BE49-F238E27FC236}">
                  <a16:creationId xmlns:a16="http://schemas.microsoft.com/office/drawing/2014/main" id="{5137EBC4-D9D9-AAED-F8A0-483B8D5A59E4}"/>
                </a:ext>
              </a:extLst>
            </p:cNvPr>
            <p:cNvCxnSpPr>
              <a:cxnSpLocks/>
              <a:stCxn id="242" idx="1"/>
              <a:endCxn id="241" idx="3"/>
            </p:cNvCxnSpPr>
            <p:nvPr/>
          </p:nvCxnSpPr>
          <p:spPr>
            <a:xfrm flipH="1" flipV="1">
              <a:off x="4783121" y="4840581"/>
              <a:ext cx="603318" cy="7567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16">
              <a:extLst>
                <a:ext uri="{FF2B5EF4-FFF2-40B4-BE49-F238E27FC236}">
                  <a16:creationId xmlns:a16="http://schemas.microsoft.com/office/drawing/2014/main" id="{7640A8C3-FE2A-8E2A-0FFE-C64CE6F1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1998" y="4603018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Replication</a:t>
              </a:r>
            </a:p>
          </p:txBody>
        </p:sp>
        <p:pic>
          <p:nvPicPr>
            <p:cNvPr id="247" name="Graphic 18" descr="Amazon DocumentDB (with MongoDB compatibility) service icon.">
              <a:extLst>
                <a:ext uri="{FF2B5EF4-FFF2-40B4-BE49-F238E27FC236}">
                  <a16:creationId xmlns:a16="http://schemas.microsoft.com/office/drawing/2014/main" id="{01F882D4-73C8-DA74-263F-637A41C553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 bwMode="auto">
            <a:xfrm>
              <a:off x="3439440" y="4665754"/>
              <a:ext cx="366801" cy="366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" name="TextBox 16">
              <a:extLst>
                <a:ext uri="{FF2B5EF4-FFF2-40B4-BE49-F238E27FC236}">
                  <a16:creationId xmlns:a16="http://schemas.microsoft.com/office/drawing/2014/main" id="{EFBC1001-2C56-E4E5-846E-A2744A880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6588" y="4996419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Aurora</a:t>
              </a:r>
            </a:p>
          </p:txBody>
        </p:sp>
        <p:sp>
          <p:nvSpPr>
            <p:cNvPr id="249" name="TextBox 16">
              <a:extLst>
                <a:ext uri="{FF2B5EF4-FFF2-40B4-BE49-F238E27FC236}">
                  <a16:creationId xmlns:a16="http://schemas.microsoft.com/office/drawing/2014/main" id="{BE08A588-ECED-4A6E-E964-72CD0C3D8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2398" y="4983486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Aurora</a:t>
              </a:r>
            </a:p>
          </p:txBody>
        </p:sp>
        <p:pic>
          <p:nvPicPr>
            <p:cNvPr id="250" name="Graphic 18" descr="Amazon DocumentDB (with MongoDB compatibility) service icon.">
              <a:extLst>
                <a:ext uri="{FF2B5EF4-FFF2-40B4-BE49-F238E27FC236}">
                  <a16:creationId xmlns:a16="http://schemas.microsoft.com/office/drawing/2014/main" id="{AA076510-E178-0C9A-B878-709A440F2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 bwMode="auto">
            <a:xfrm>
              <a:off x="6278564" y="4651640"/>
              <a:ext cx="366801" cy="366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Graphic 21" descr="Amazon ElastiCache service icon.">
              <a:extLst>
                <a:ext uri="{FF2B5EF4-FFF2-40B4-BE49-F238E27FC236}">
                  <a16:creationId xmlns:a16="http://schemas.microsoft.com/office/drawing/2014/main" id="{07F9EE3B-B4A8-19DA-0926-65622A9BF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 bwMode="auto">
            <a:xfrm>
              <a:off x="3959062" y="5152168"/>
              <a:ext cx="403830" cy="40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2" name="Graphic 251" descr="VPN gateway resource icon for the Amazon VPC service.&#10;">
              <a:extLst>
                <a:ext uri="{FF2B5EF4-FFF2-40B4-BE49-F238E27FC236}">
                  <a16:creationId xmlns:a16="http://schemas.microsoft.com/office/drawing/2014/main" id="{D472B2F0-926D-D43D-20EE-0D95A7F10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069770" y="4149706"/>
              <a:ext cx="305383" cy="305383"/>
            </a:xfrm>
            <a:prstGeom prst="rect">
              <a:avLst/>
            </a:prstGeom>
          </p:spPr>
        </p:pic>
        <p:cxnSp>
          <p:nvCxnSpPr>
            <p:cNvPr id="253" name="Straight Arrow Connector 252" descr="Left pointing horizontal arrow. ">
              <a:extLst>
                <a:ext uri="{FF2B5EF4-FFF2-40B4-BE49-F238E27FC236}">
                  <a16:creationId xmlns:a16="http://schemas.microsoft.com/office/drawing/2014/main" id="{EEB4E7D7-5D87-E673-053E-5F912E4F62C3}"/>
                </a:ext>
              </a:extLst>
            </p:cNvPr>
            <p:cNvCxnSpPr>
              <a:cxnSpLocks/>
              <a:stCxn id="269" idx="0"/>
              <a:endCxn id="232" idx="1"/>
            </p:cNvCxnSpPr>
            <p:nvPr/>
          </p:nvCxnSpPr>
          <p:spPr>
            <a:xfrm flipV="1">
              <a:off x="4167041" y="3000537"/>
              <a:ext cx="628768" cy="928133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 descr="Left pointing horizontal arrow. ">
              <a:extLst>
                <a:ext uri="{FF2B5EF4-FFF2-40B4-BE49-F238E27FC236}">
                  <a16:creationId xmlns:a16="http://schemas.microsoft.com/office/drawing/2014/main" id="{BD829397-21D9-BB18-57B3-876593F7FD1D}"/>
                </a:ext>
              </a:extLst>
            </p:cNvPr>
            <p:cNvCxnSpPr>
              <a:cxnSpLocks/>
              <a:stCxn id="267" idx="0"/>
              <a:endCxn id="232" idx="3"/>
            </p:cNvCxnSpPr>
            <p:nvPr/>
          </p:nvCxnSpPr>
          <p:spPr>
            <a:xfrm flipH="1" flipV="1">
              <a:off x="5327436" y="3000537"/>
              <a:ext cx="629787" cy="941478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 descr="Double pointing horizontal arrow.">
              <a:extLst>
                <a:ext uri="{FF2B5EF4-FFF2-40B4-BE49-F238E27FC236}">
                  <a16:creationId xmlns:a16="http://schemas.microsoft.com/office/drawing/2014/main" id="{B2C6ECF9-AA66-09CE-53AC-5F8A08050D7F}"/>
                </a:ext>
              </a:extLst>
            </p:cNvPr>
            <p:cNvCxnSpPr>
              <a:cxnSpLocks/>
              <a:stCxn id="247" idx="3"/>
              <a:endCxn id="269" idx="2"/>
            </p:cNvCxnSpPr>
            <p:nvPr/>
          </p:nvCxnSpPr>
          <p:spPr>
            <a:xfrm flipV="1">
              <a:off x="3806241" y="4213127"/>
              <a:ext cx="360799" cy="636028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 descr="Double pointing horizontal arrow.">
              <a:extLst>
                <a:ext uri="{FF2B5EF4-FFF2-40B4-BE49-F238E27FC236}">
                  <a16:creationId xmlns:a16="http://schemas.microsoft.com/office/drawing/2014/main" id="{F98F364B-CA41-C2BF-C66B-E21E8B0C2AB2}"/>
                </a:ext>
              </a:extLst>
            </p:cNvPr>
            <p:cNvCxnSpPr>
              <a:cxnSpLocks/>
              <a:stCxn id="251" idx="0"/>
              <a:endCxn id="269" idx="2"/>
            </p:cNvCxnSpPr>
            <p:nvPr/>
          </p:nvCxnSpPr>
          <p:spPr>
            <a:xfrm flipV="1">
              <a:off x="4160977" y="4213127"/>
              <a:ext cx="6063" cy="939041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 descr="Double pointing horizontal arrow.">
              <a:extLst>
                <a:ext uri="{FF2B5EF4-FFF2-40B4-BE49-F238E27FC236}">
                  <a16:creationId xmlns:a16="http://schemas.microsoft.com/office/drawing/2014/main" id="{B2606703-D07B-42E0-F69C-3835072DD174}"/>
                </a:ext>
              </a:extLst>
            </p:cNvPr>
            <p:cNvCxnSpPr>
              <a:cxnSpLocks/>
              <a:stCxn id="241" idx="1"/>
              <a:endCxn id="269" idx="2"/>
            </p:cNvCxnSpPr>
            <p:nvPr/>
          </p:nvCxnSpPr>
          <p:spPr>
            <a:xfrm flipH="1" flipV="1">
              <a:off x="4167040" y="4213127"/>
              <a:ext cx="277526" cy="627454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8" name="Graphic 21" descr="Amazon ElastiCache service icon.">
              <a:extLst>
                <a:ext uri="{FF2B5EF4-FFF2-40B4-BE49-F238E27FC236}">
                  <a16:creationId xmlns:a16="http://schemas.microsoft.com/office/drawing/2014/main" id="{7ABB9322-90AF-D409-B687-716D81BAA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 bwMode="auto">
            <a:xfrm>
              <a:off x="5758316" y="5211877"/>
              <a:ext cx="403830" cy="40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59" name="Straight Arrow Connector 258" descr="Double pointing horizontal arrow.">
              <a:extLst>
                <a:ext uri="{FF2B5EF4-FFF2-40B4-BE49-F238E27FC236}">
                  <a16:creationId xmlns:a16="http://schemas.microsoft.com/office/drawing/2014/main" id="{11F67E0E-CCA8-53E9-A1EA-90A15CAA84F3}"/>
                </a:ext>
              </a:extLst>
            </p:cNvPr>
            <p:cNvCxnSpPr>
              <a:cxnSpLocks/>
              <a:stCxn id="258" idx="0"/>
              <a:endCxn id="267" idx="2"/>
            </p:cNvCxnSpPr>
            <p:nvPr/>
          </p:nvCxnSpPr>
          <p:spPr>
            <a:xfrm flipH="1" flipV="1">
              <a:off x="5957223" y="4226471"/>
              <a:ext cx="3008" cy="985406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 descr="Double pointing horizontal arrow.">
              <a:extLst>
                <a:ext uri="{FF2B5EF4-FFF2-40B4-BE49-F238E27FC236}">
                  <a16:creationId xmlns:a16="http://schemas.microsoft.com/office/drawing/2014/main" id="{35D689CA-1CD8-DE37-38BA-5FF5A7035B4F}"/>
                </a:ext>
              </a:extLst>
            </p:cNvPr>
            <p:cNvCxnSpPr>
              <a:cxnSpLocks/>
              <a:endCxn id="267" idx="2"/>
            </p:cNvCxnSpPr>
            <p:nvPr/>
          </p:nvCxnSpPr>
          <p:spPr>
            <a:xfrm flipH="1" flipV="1">
              <a:off x="5957223" y="4226472"/>
              <a:ext cx="292567" cy="62169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 descr="Double pointing horizontal arrow.">
              <a:extLst>
                <a:ext uri="{FF2B5EF4-FFF2-40B4-BE49-F238E27FC236}">
                  <a16:creationId xmlns:a16="http://schemas.microsoft.com/office/drawing/2014/main" id="{CA3EF4A7-E83E-CCF2-8127-F487C700116B}"/>
                </a:ext>
              </a:extLst>
            </p:cNvPr>
            <p:cNvCxnSpPr>
              <a:cxnSpLocks/>
              <a:stCxn id="242" idx="3"/>
              <a:endCxn id="267" idx="2"/>
            </p:cNvCxnSpPr>
            <p:nvPr/>
          </p:nvCxnSpPr>
          <p:spPr>
            <a:xfrm flipV="1">
              <a:off x="5720009" y="4226472"/>
              <a:ext cx="237214" cy="621676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16">
              <a:extLst>
                <a:ext uri="{FF2B5EF4-FFF2-40B4-BE49-F238E27FC236}">
                  <a16:creationId xmlns:a16="http://schemas.microsoft.com/office/drawing/2014/main" id="{62B07BF8-E813-D8B0-6354-18C60FBF2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067" y="5341167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 err="1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Elasticache</a:t>
              </a:r>
              <a:endParaRPr lang="en-US" sz="800" noProof="0" dirty="0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TextBox 16">
              <a:extLst>
                <a:ext uri="{FF2B5EF4-FFF2-40B4-BE49-F238E27FC236}">
                  <a16:creationId xmlns:a16="http://schemas.microsoft.com/office/drawing/2014/main" id="{5BCA984C-7165-EFBE-2490-948CE7A6C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454" y="5283897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 err="1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Elasticache</a:t>
              </a:r>
              <a:endParaRPr lang="en-US" sz="800" noProof="0" dirty="0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TextBox 16">
              <a:extLst>
                <a:ext uri="{FF2B5EF4-FFF2-40B4-BE49-F238E27FC236}">
                  <a16:creationId xmlns:a16="http://schemas.microsoft.com/office/drawing/2014/main" id="{671BE99D-D154-FCE2-DE22-9A5BFD623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030" y="5030157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MongoDB</a:t>
              </a:r>
            </a:p>
          </p:txBody>
        </p:sp>
        <p:sp>
          <p:nvSpPr>
            <p:cNvPr id="265" name="TextBox 16">
              <a:extLst>
                <a:ext uri="{FF2B5EF4-FFF2-40B4-BE49-F238E27FC236}">
                  <a16:creationId xmlns:a16="http://schemas.microsoft.com/office/drawing/2014/main" id="{E1100B67-70CD-6185-DFFB-5DA976858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518" y="5041756"/>
              <a:ext cx="5805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MongoDB</a:t>
              </a:r>
            </a:p>
          </p:txBody>
        </p:sp>
        <p:sp>
          <p:nvSpPr>
            <p:cNvPr id="266" name="TextBox 15">
              <a:extLst>
                <a:ext uri="{FF2B5EF4-FFF2-40B4-BE49-F238E27FC236}">
                  <a16:creationId xmlns:a16="http://schemas.microsoft.com/office/drawing/2014/main" id="{75F8395D-38B0-B09F-86AE-C12F8DD58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7710" y="1928591"/>
              <a:ext cx="134285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9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IGW</a:t>
              </a:r>
            </a:p>
          </p:txBody>
        </p:sp>
      </p:grp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9C0BED7F-31FD-3DB0-1335-A00346EC7994}"/>
              </a:ext>
            </a:extLst>
          </p:cNvPr>
          <p:cNvCxnSpPr>
            <a:cxnSpLocks/>
            <a:stCxn id="197" idx="2"/>
          </p:cNvCxnSpPr>
          <p:nvPr/>
        </p:nvCxnSpPr>
        <p:spPr>
          <a:xfrm>
            <a:off x="5889979" y="625445"/>
            <a:ext cx="3672882" cy="1397376"/>
          </a:xfrm>
          <a:prstGeom prst="straightConnector1">
            <a:avLst/>
          </a:prstGeom>
          <a:ln cmpd="sng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D60D1174-0690-41DB-C292-822B359EBE33}"/>
              </a:ext>
            </a:extLst>
          </p:cNvPr>
          <p:cNvGrpSpPr/>
          <p:nvPr/>
        </p:nvGrpSpPr>
        <p:grpSpPr>
          <a:xfrm>
            <a:off x="663456" y="920359"/>
            <a:ext cx="6292637" cy="5656565"/>
            <a:chOff x="663456" y="920359"/>
            <a:chExt cx="6292637" cy="565656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24091EF-D050-40B4-9F62-31CB9218FC72}"/>
                </a:ext>
              </a:extLst>
            </p:cNvPr>
            <p:cNvGrpSpPr/>
            <p:nvPr/>
          </p:nvGrpSpPr>
          <p:grpSpPr>
            <a:xfrm>
              <a:off x="663456" y="920359"/>
              <a:ext cx="3125500" cy="2318076"/>
              <a:chOff x="2588901" y="320350"/>
              <a:chExt cx="3125500" cy="2318076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98EA54B-B082-DDCC-C51F-A9CF0A33A6AC}"/>
                  </a:ext>
                </a:extLst>
              </p:cNvPr>
              <p:cNvGrpSpPr/>
              <p:nvPr/>
            </p:nvGrpSpPr>
            <p:grpSpPr>
              <a:xfrm>
                <a:off x="3422051" y="320350"/>
                <a:ext cx="2292350" cy="526508"/>
                <a:chOff x="3374823" y="829977"/>
                <a:chExt cx="2292350" cy="526508"/>
              </a:xfrm>
            </p:grpSpPr>
            <p:sp>
              <p:nvSpPr>
                <p:cNvPr id="14" name="TextBox 11">
                  <a:extLst>
                    <a:ext uri="{FF2B5EF4-FFF2-40B4-BE49-F238E27FC236}">
                      <a16:creationId xmlns:a16="http://schemas.microsoft.com/office/drawing/2014/main" id="{3C1CD0A4-587F-3D4B-B2B0-7B531CC107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4823" y="835662"/>
                  <a:ext cx="2292350" cy="184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6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AWS WAF</a:t>
                  </a:r>
                </a:p>
              </p:txBody>
            </p:sp>
            <p:sp>
              <p:nvSpPr>
                <p:cNvPr id="24" name="TextBox 11">
                  <a:extLst>
                    <a:ext uri="{FF2B5EF4-FFF2-40B4-BE49-F238E27FC236}">
                      <a16:creationId xmlns:a16="http://schemas.microsoft.com/office/drawing/2014/main" id="{EA30F33C-D92A-67F0-AA0B-ED42B1F271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3940" y="1039757"/>
                  <a:ext cx="733908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6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Amazon CloudFront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45BB034-5E41-655D-7242-343D9B5DF065}"/>
                    </a:ext>
                  </a:extLst>
                </p:cNvPr>
                <p:cNvGrpSpPr/>
                <p:nvPr/>
              </p:nvGrpSpPr>
              <p:grpSpPr>
                <a:xfrm>
                  <a:off x="4083133" y="829977"/>
                  <a:ext cx="855086" cy="526508"/>
                  <a:chOff x="4083133" y="829977"/>
                  <a:chExt cx="855086" cy="526508"/>
                </a:xfrm>
              </p:grpSpPr>
              <p:pic>
                <p:nvPicPr>
                  <p:cNvPr id="13" name="Graphic 8" descr="AWS WAF service icon.">
                    <a:extLst>
                      <a:ext uri="{FF2B5EF4-FFF2-40B4-BE49-F238E27FC236}">
                        <a16:creationId xmlns:a16="http://schemas.microsoft.com/office/drawing/2014/main" id="{3CA5DC61-4F96-EB30-7E6A-A466B2D0DEA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9">
                    <a:extLst>
                      <a:ext uri="{96DAC541-7B7A-43D3-8B79-37D633B846F1}">
                        <asvg:svgBlip xmlns:asvg="http://schemas.microsoft.com/office/drawing/2016/SVG/main" r:embed="rId3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083133" y="844695"/>
                    <a:ext cx="175742" cy="17574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3" name="Graphic 19" descr="Amazon CloudFront service icon.">
                    <a:extLst>
                      <a:ext uri="{FF2B5EF4-FFF2-40B4-BE49-F238E27FC236}">
                        <a16:creationId xmlns:a16="http://schemas.microsoft.com/office/drawing/2014/main" id="{F61FBF9A-8AD2-AF52-F94A-04CA19E3C72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1">
                    <a:extLst>
                      <a:ext uri="{96DAC541-7B7A-43D3-8B79-37D633B846F1}">
                        <asvg:svgBlip xmlns:asvg="http://schemas.microsoft.com/office/drawing/2016/SVG/main" r:embed="rId32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642323" y="1085923"/>
                    <a:ext cx="184667" cy="1846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" name="Rectangle 25" descr="Security group.">
                    <a:extLst>
                      <a:ext uri="{FF2B5EF4-FFF2-40B4-BE49-F238E27FC236}">
                        <a16:creationId xmlns:a16="http://schemas.microsoft.com/office/drawing/2014/main" id="{60526E78-5DBC-3AE2-AC9C-FF50586B8327}"/>
                      </a:ext>
                    </a:extLst>
                  </p:cNvPr>
                  <p:cNvSpPr/>
                  <p:nvPr/>
                </p:nvSpPr>
                <p:spPr>
                  <a:xfrm>
                    <a:off x="4083133" y="829977"/>
                    <a:ext cx="855086" cy="526508"/>
                  </a:xfrm>
                  <a:prstGeom prst="rect">
                    <a:avLst/>
                  </a:prstGeom>
                  <a:noFill/>
                  <a:ln w="15875">
                    <a:solidFill>
                      <a:srgbClr val="DD344C"/>
                    </a:solidFill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tIns="91440" anchorCtr="1"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200" noProof="0" dirty="0">
                      <a:solidFill>
                        <a:schemeClr val="tx1"/>
                      </a:solidFill>
                      <a:latin typeface="Aptos" panose="020B00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pic>
            <p:nvPicPr>
              <p:cNvPr id="30" name="Graphic 8" descr="Amazon Simple Storage Service (Amazon S3) service icon.">
                <a:extLst>
                  <a:ext uri="{FF2B5EF4-FFF2-40B4-BE49-F238E27FC236}">
                    <a16:creationId xmlns:a16="http://schemas.microsoft.com/office/drawing/2014/main" id="{B2BF586C-0BCA-EBE1-C5FC-9DFA9DA0CA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 bwMode="auto">
              <a:xfrm>
                <a:off x="3553936" y="2099498"/>
                <a:ext cx="309892" cy="309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Box 9">
                <a:extLst>
                  <a:ext uri="{FF2B5EF4-FFF2-40B4-BE49-F238E27FC236}">
                    <a16:creationId xmlns:a16="http://schemas.microsoft.com/office/drawing/2014/main" id="{D3FED9C5-0D59-424A-D6B6-451EAA8571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8901" y="2438371"/>
                <a:ext cx="2239962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7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Frontend Hosting</a:t>
                </a:r>
              </a:p>
            </p:txBody>
          </p:sp>
        </p:grpSp>
        <p:pic>
          <p:nvPicPr>
            <p:cNvPr id="100" name="Graphic 99" descr="On-premises NFS Linked datasets resource icon for the Amazon File Cache service.">
              <a:extLst>
                <a:ext uri="{FF2B5EF4-FFF2-40B4-BE49-F238E27FC236}">
                  <a16:creationId xmlns:a16="http://schemas.microsoft.com/office/drawing/2014/main" id="{7D81ED25-D230-B0C6-F891-F86A197D7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10420" y="6119724"/>
              <a:ext cx="457200" cy="457200"/>
            </a:xfrm>
            <a:prstGeom prst="rect">
              <a:avLst/>
            </a:prstGeom>
          </p:spPr>
        </p:pic>
        <p:sp>
          <p:nvSpPr>
            <p:cNvPr id="110" name="TextBox 15">
              <a:extLst>
                <a:ext uri="{FF2B5EF4-FFF2-40B4-BE49-F238E27FC236}">
                  <a16:creationId xmlns:a16="http://schemas.microsoft.com/office/drawing/2014/main" id="{F0CD8A1C-7C6F-F83B-BC0F-3F3CE0B6A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9424" y="4067812"/>
              <a:ext cx="134285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9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VPN gateway</a:t>
              </a:r>
            </a:p>
          </p:txBody>
        </p:sp>
        <p:cxnSp>
          <p:nvCxnSpPr>
            <p:cNvPr id="124" name="Straight Arrow Connector 123" descr="Left pointing horizontal arrow. ">
              <a:extLst>
                <a:ext uri="{FF2B5EF4-FFF2-40B4-BE49-F238E27FC236}">
                  <a16:creationId xmlns:a16="http://schemas.microsoft.com/office/drawing/2014/main" id="{7A231BBC-02B9-C5F3-3ED0-881EAAF36262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1790899" y="1360972"/>
              <a:ext cx="1065541" cy="1338535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81B5EF16-32DA-AF9C-4091-B3A21BA078CF}"/>
                </a:ext>
              </a:extLst>
            </p:cNvPr>
            <p:cNvGrpSpPr/>
            <p:nvPr/>
          </p:nvGrpSpPr>
          <p:grpSpPr>
            <a:xfrm>
              <a:off x="1255647" y="1711636"/>
              <a:ext cx="4950117" cy="4284250"/>
              <a:chOff x="2059386" y="1672379"/>
              <a:chExt cx="4950117" cy="4284250"/>
            </a:xfrm>
          </p:grpSpPr>
          <p:sp>
            <p:nvSpPr>
              <p:cNvPr id="32" name="Rectangle 31" descr="Availability Zone 1 represented by availability zone resource group.">
                <a:extLst>
                  <a:ext uri="{FF2B5EF4-FFF2-40B4-BE49-F238E27FC236}">
                    <a16:creationId xmlns:a16="http://schemas.microsoft.com/office/drawing/2014/main" id="{5542A3CF-9C26-06B2-72E4-3572E66648C6}"/>
                  </a:ext>
                </a:extLst>
              </p:cNvPr>
              <p:cNvSpPr/>
              <p:nvPr/>
            </p:nvSpPr>
            <p:spPr bwMode="auto">
              <a:xfrm>
                <a:off x="2059386" y="1672379"/>
                <a:ext cx="4950117" cy="4284250"/>
              </a:xfrm>
              <a:prstGeom prst="rect">
                <a:avLst/>
              </a:prstGeom>
              <a:noFill/>
              <a:ln w="15875">
                <a:solidFill>
                  <a:srgbClr val="00A4A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/>
              <a:lstStyle/>
              <a:p>
                <a:pPr algn="ctr">
                  <a:defRPr/>
                </a:pPr>
                <a:endPara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EB73FD7-B3E7-66B2-B158-6498A217FAF5}"/>
                  </a:ext>
                </a:extLst>
              </p:cNvPr>
              <p:cNvSpPr/>
              <p:nvPr/>
            </p:nvSpPr>
            <p:spPr bwMode="auto">
              <a:xfrm>
                <a:off x="3221061" y="2116130"/>
                <a:ext cx="3722606" cy="376088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AF1AB0-91D9-5CFA-FF6B-8FB9A15E93F9}"/>
                  </a:ext>
                </a:extLst>
              </p:cNvPr>
              <p:cNvSpPr txBox="1"/>
              <p:nvPr/>
            </p:nvSpPr>
            <p:spPr>
              <a:xfrm>
                <a:off x="4463814" y="2467032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noProof="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8DB46C-5A42-B295-BA8E-728EF19421C4}"/>
                  </a:ext>
                </a:extLst>
              </p:cNvPr>
              <p:cNvSpPr txBox="1"/>
              <p:nvPr/>
            </p:nvSpPr>
            <p:spPr>
              <a:xfrm>
                <a:off x="4470831" y="2146238"/>
                <a:ext cx="105670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VPC (10.0.0.0/16)</a:t>
                </a:r>
              </a:p>
            </p:txBody>
          </p:sp>
          <p:sp>
            <p:nvSpPr>
              <p:cNvPr id="41" name="Rectangle 40" descr="Availability Zone 1 represented by availability zone resource group.">
                <a:extLst>
                  <a:ext uri="{FF2B5EF4-FFF2-40B4-BE49-F238E27FC236}">
                    <a16:creationId xmlns:a16="http://schemas.microsoft.com/office/drawing/2014/main" id="{E1D2A50F-6F4E-2C02-F09D-CA882AB5AC93}"/>
                  </a:ext>
                </a:extLst>
              </p:cNvPr>
              <p:cNvSpPr/>
              <p:nvPr/>
            </p:nvSpPr>
            <p:spPr bwMode="auto">
              <a:xfrm>
                <a:off x="3287076" y="2408167"/>
                <a:ext cx="1723605" cy="3397829"/>
              </a:xfrm>
              <a:prstGeom prst="rect">
                <a:avLst/>
              </a:prstGeom>
              <a:noFill/>
              <a:ln w="15875">
                <a:solidFill>
                  <a:srgbClr val="00A4A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noProof="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Availability Zone A</a:t>
                </a:r>
              </a:p>
            </p:txBody>
          </p:sp>
          <p:sp>
            <p:nvSpPr>
              <p:cNvPr id="42" name="Rectangle 41" descr="Availability Zone 1 represented by availability zone resource group.">
                <a:extLst>
                  <a:ext uri="{FF2B5EF4-FFF2-40B4-BE49-F238E27FC236}">
                    <a16:creationId xmlns:a16="http://schemas.microsoft.com/office/drawing/2014/main" id="{4C3EB581-10CF-6668-CA7E-33C7C19AB461}"/>
                  </a:ext>
                </a:extLst>
              </p:cNvPr>
              <p:cNvSpPr/>
              <p:nvPr/>
            </p:nvSpPr>
            <p:spPr bwMode="auto">
              <a:xfrm>
                <a:off x="5098888" y="2408166"/>
                <a:ext cx="1723605" cy="3397830"/>
              </a:xfrm>
              <a:prstGeom prst="rect">
                <a:avLst/>
              </a:prstGeom>
              <a:noFill/>
              <a:ln w="15875">
                <a:solidFill>
                  <a:srgbClr val="00A4A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noProof="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Availability Zone B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C2CE285-E25D-7A76-CD06-9D0981EF7A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332046" y="2695953"/>
                <a:ext cx="1576752" cy="710163"/>
              </a:xfrm>
              <a:prstGeom prst="rect">
                <a:avLst/>
              </a:prstGeom>
              <a:noFill/>
              <a:ln w="15875">
                <a:solidFill>
                  <a:srgbClr val="7AA11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 bIns="4572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5998A14-FC65-4A28-2386-BC0186C88617}"/>
                  </a:ext>
                </a:extLst>
              </p:cNvPr>
              <p:cNvSpPr txBox="1"/>
              <p:nvPr/>
            </p:nvSpPr>
            <p:spPr>
              <a:xfrm>
                <a:off x="3632232" y="2672754"/>
                <a:ext cx="8691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Public subnet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368267D-3E71-FB68-D31D-64EF4BDA7A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172946" y="2695953"/>
                <a:ext cx="1595232" cy="703883"/>
              </a:xfrm>
              <a:prstGeom prst="rect">
                <a:avLst/>
              </a:prstGeom>
              <a:noFill/>
              <a:ln w="15875">
                <a:solidFill>
                  <a:srgbClr val="7AA11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 bIns="4572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1F1A1B8-E6F4-C6B2-4ACB-67DA5ECC4F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341842" y="3471597"/>
                <a:ext cx="1592493" cy="2255474"/>
              </a:xfrm>
              <a:prstGeom prst="rect">
                <a:avLst/>
              </a:prstGeom>
              <a:noFill/>
              <a:ln w="15875">
                <a:solidFill>
                  <a:srgbClr val="7AA11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 bIns="4572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DA75423-D9F4-6418-0FFD-DDC4A76BB9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172946" y="3476639"/>
                <a:ext cx="1595232" cy="2258337"/>
              </a:xfrm>
              <a:prstGeom prst="rect">
                <a:avLst/>
              </a:prstGeom>
              <a:noFill/>
              <a:ln w="15875">
                <a:solidFill>
                  <a:srgbClr val="7AA11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 bIns="4572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1B23F8-0A83-8790-47B1-760581B75C9F}"/>
                  </a:ext>
                </a:extLst>
              </p:cNvPr>
              <p:cNvSpPr txBox="1"/>
              <p:nvPr/>
            </p:nvSpPr>
            <p:spPr>
              <a:xfrm>
                <a:off x="5520550" y="2680150"/>
                <a:ext cx="8691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Public subnet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C32A102-38CD-6E18-A2B8-D2434CBBBD76}"/>
                  </a:ext>
                </a:extLst>
              </p:cNvPr>
              <p:cNvSpPr txBox="1"/>
              <p:nvPr/>
            </p:nvSpPr>
            <p:spPr>
              <a:xfrm>
                <a:off x="3601776" y="3454248"/>
                <a:ext cx="89960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Private subnet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04B03DB-EEAD-EC9F-333C-50CE51E57BE7}"/>
                  </a:ext>
                </a:extLst>
              </p:cNvPr>
              <p:cNvSpPr txBox="1"/>
              <p:nvPr/>
            </p:nvSpPr>
            <p:spPr>
              <a:xfrm>
                <a:off x="5467835" y="3457234"/>
                <a:ext cx="89960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Private subnet</a:t>
                </a:r>
              </a:p>
            </p:txBody>
          </p:sp>
          <p:grpSp>
            <p:nvGrpSpPr>
              <p:cNvPr id="52" name="1.natGateway" descr="First Nat gateway resource icon, with the Nate gateway label below it. The resource is in Availability Zone 1.">
                <a:extLst>
                  <a:ext uri="{FF2B5EF4-FFF2-40B4-BE49-F238E27FC236}">
                    <a16:creationId xmlns:a16="http://schemas.microsoft.com/office/drawing/2014/main" id="{677282FD-E44B-D486-6E4E-9D4B47DA3241}"/>
                  </a:ext>
                </a:extLst>
              </p:cNvPr>
              <p:cNvGrpSpPr/>
              <p:nvPr/>
            </p:nvGrpSpPr>
            <p:grpSpPr>
              <a:xfrm>
                <a:off x="3665463" y="2900986"/>
                <a:ext cx="869149" cy="434026"/>
                <a:chOff x="2643898" y="4862255"/>
                <a:chExt cx="1234766" cy="545547"/>
              </a:xfrm>
            </p:grpSpPr>
            <p:sp>
              <p:nvSpPr>
                <p:cNvPr id="53" name="TextBox 17">
                  <a:extLst>
                    <a:ext uri="{FF2B5EF4-FFF2-40B4-BE49-F238E27FC236}">
                      <a16:creationId xmlns:a16="http://schemas.microsoft.com/office/drawing/2014/main" id="{1654F32D-3D47-4BF0-8E57-EB37854040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3898" y="5117659"/>
                  <a:ext cx="1234766" cy="2901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NAT gateway</a:t>
                  </a:r>
                </a:p>
              </p:txBody>
            </p:sp>
            <p:pic>
              <p:nvPicPr>
                <p:cNvPr id="54" name="Graphic 35">
                  <a:extLst>
                    <a:ext uri="{FF2B5EF4-FFF2-40B4-BE49-F238E27FC236}">
                      <a16:creationId xmlns:a16="http://schemas.microsoft.com/office/drawing/2014/main" id="{EF9B2B97-49DE-5ACD-99F5-A601D2B497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 bwMode="auto">
                <a:xfrm>
                  <a:off x="3058319" y="4862255"/>
                  <a:ext cx="386090" cy="350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5" name="1.natGateway" descr="First Nat gateway resource icon, with the Nate gateway label below it. The resource is in Availability Zone 1.">
                <a:extLst>
                  <a:ext uri="{FF2B5EF4-FFF2-40B4-BE49-F238E27FC236}">
                    <a16:creationId xmlns:a16="http://schemas.microsoft.com/office/drawing/2014/main" id="{5B50A678-D172-BFF9-520E-94F864BB2809}"/>
                  </a:ext>
                </a:extLst>
              </p:cNvPr>
              <p:cNvGrpSpPr/>
              <p:nvPr/>
            </p:nvGrpSpPr>
            <p:grpSpPr>
              <a:xfrm>
                <a:off x="5520550" y="2906028"/>
                <a:ext cx="869149" cy="434026"/>
                <a:chOff x="2643898" y="4862255"/>
                <a:chExt cx="1234766" cy="545547"/>
              </a:xfrm>
            </p:grpSpPr>
            <p:sp>
              <p:nvSpPr>
                <p:cNvPr id="56" name="TextBox 17">
                  <a:extLst>
                    <a:ext uri="{FF2B5EF4-FFF2-40B4-BE49-F238E27FC236}">
                      <a16:creationId xmlns:a16="http://schemas.microsoft.com/office/drawing/2014/main" id="{5EC10044-C013-B4C6-783E-00537FB6F56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3898" y="5117659"/>
                  <a:ext cx="1234766" cy="2901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NAT gateway</a:t>
                  </a:r>
                </a:p>
              </p:txBody>
            </p:sp>
            <p:pic>
              <p:nvPicPr>
                <p:cNvPr id="57" name="Graphic 35">
                  <a:extLst>
                    <a:ext uri="{FF2B5EF4-FFF2-40B4-BE49-F238E27FC236}">
                      <a16:creationId xmlns:a16="http://schemas.microsoft.com/office/drawing/2014/main" id="{6CE59051-E89E-CAE3-BA94-CDCF0A13A4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 bwMode="auto">
                <a:xfrm>
                  <a:off x="3058319" y="4862255"/>
                  <a:ext cx="386090" cy="350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58" name="Graphic 57" descr="Application Load Balancer resource icon for the Elastic Load Balancing service.">
                <a:extLst>
                  <a:ext uri="{FF2B5EF4-FFF2-40B4-BE49-F238E27FC236}">
                    <a16:creationId xmlns:a16="http://schemas.microsoft.com/office/drawing/2014/main" id="{5D1A93A6-63A6-7121-0502-48D276577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4795809" y="2734723"/>
                <a:ext cx="531627" cy="531627"/>
              </a:xfrm>
              <a:prstGeom prst="rect">
                <a:avLst/>
              </a:prstGeom>
            </p:spPr>
          </p:pic>
          <p:pic>
            <p:nvPicPr>
              <p:cNvPr id="60" name="Graphic 10" descr="Internet gateway resource icon for the Amazon VPC service.">
                <a:extLst>
                  <a:ext uri="{FF2B5EF4-FFF2-40B4-BE49-F238E27FC236}">
                    <a16:creationId xmlns:a16="http://schemas.microsoft.com/office/drawing/2014/main" id="{B4364EEF-E416-28D0-FF1E-36011F9DD7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 bwMode="auto">
              <a:xfrm>
                <a:off x="4931884" y="1941453"/>
                <a:ext cx="251641" cy="251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9830F2-C036-4D33-4E5F-53B5706F4337}"/>
                  </a:ext>
                </a:extLst>
              </p:cNvPr>
              <p:cNvSpPr txBox="1"/>
              <p:nvPr/>
            </p:nvSpPr>
            <p:spPr>
              <a:xfrm>
                <a:off x="5867087" y="1673353"/>
                <a:ext cx="11352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Region A-us-east-1</a:t>
                </a:r>
                <a:endParaRPr lang="en-US" sz="900" noProof="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12">
                <a:extLst>
                  <a:ext uri="{FF2B5EF4-FFF2-40B4-BE49-F238E27FC236}">
                    <a16:creationId xmlns:a16="http://schemas.microsoft.com/office/drawing/2014/main" id="{FCBC2E09-5339-32D0-9629-349F3CA8FF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043" y="3265705"/>
                <a:ext cx="1468723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9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ALB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1D2D66-4039-6402-C5A3-2CFBDCEE30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434282" y="3703489"/>
                <a:ext cx="3231408" cy="756624"/>
              </a:xfrm>
              <a:prstGeom prst="rect">
                <a:avLst/>
              </a:prstGeom>
              <a:noFill/>
              <a:ln w="15875">
                <a:solidFill>
                  <a:srgbClr val="ED71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noProof="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4D3C768-3D02-8D65-0B66-D23AA96158F6}"/>
                  </a:ext>
                </a:extLst>
              </p:cNvPr>
              <p:cNvSpPr txBox="1"/>
              <p:nvPr/>
            </p:nvSpPr>
            <p:spPr>
              <a:xfrm>
                <a:off x="4672022" y="3708331"/>
                <a:ext cx="77136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>
                    <a:latin typeface="Aptos" panose="020B0004020202020204" pitchFamily="34" charset="0"/>
                  </a:rPr>
                  <a:t>EKS Cluster</a:t>
                </a:r>
              </a:p>
            </p:txBody>
          </p:sp>
          <p:grpSp>
            <p:nvGrpSpPr>
              <p:cNvPr id="73" name="3-Instance" descr="Instance resource icon, with the Instance label below it. The resource is in first autoscaling group, and in Availability Zone2.">
                <a:extLst>
                  <a:ext uri="{FF2B5EF4-FFF2-40B4-BE49-F238E27FC236}">
                    <a16:creationId xmlns:a16="http://schemas.microsoft.com/office/drawing/2014/main" id="{F46D032F-ABE7-52C4-2615-3906C3AA51E0}"/>
                  </a:ext>
                </a:extLst>
              </p:cNvPr>
              <p:cNvGrpSpPr/>
              <p:nvPr/>
            </p:nvGrpSpPr>
            <p:grpSpPr>
              <a:xfrm>
                <a:off x="4006481" y="3928671"/>
                <a:ext cx="1019960" cy="284456"/>
                <a:chOff x="5951092" y="3194557"/>
                <a:chExt cx="1452198" cy="611323"/>
              </a:xfrm>
            </p:grpSpPr>
            <p:pic>
              <p:nvPicPr>
                <p:cNvPr id="74" name="Graphic 60">
                  <a:extLst>
                    <a:ext uri="{FF2B5EF4-FFF2-40B4-BE49-F238E27FC236}">
                      <a16:creationId xmlns:a16="http://schemas.microsoft.com/office/drawing/2014/main" id="{2D2FD6F0-DB12-2A6E-313B-8CF9438602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rcRect/>
                <a:stretch/>
              </p:blipFill>
              <p:spPr bwMode="auto">
                <a:xfrm>
                  <a:off x="5951092" y="3194557"/>
                  <a:ext cx="457200" cy="611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TextBox 16">
                  <a:extLst>
                    <a:ext uri="{FF2B5EF4-FFF2-40B4-BE49-F238E27FC236}">
                      <a16:creationId xmlns:a16="http://schemas.microsoft.com/office/drawing/2014/main" id="{5F9DE985-3FF0-0420-548E-9BEF68BC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87722" y="3291728"/>
                  <a:ext cx="1115568" cy="4299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r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7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Worker Nodes</a:t>
                  </a:r>
                </a:p>
              </p:txBody>
            </p:sp>
          </p:grpSp>
          <p:grpSp>
            <p:nvGrpSpPr>
              <p:cNvPr id="76" name="3-Instance" descr="Instance resource icon, with the Instance label below it. The resource is in first autoscaling group, and in Availability Zone2.">
                <a:extLst>
                  <a:ext uri="{FF2B5EF4-FFF2-40B4-BE49-F238E27FC236}">
                    <a16:creationId xmlns:a16="http://schemas.microsoft.com/office/drawing/2014/main" id="{066285FA-E995-E723-B455-F9AE7938582D}"/>
                  </a:ext>
                </a:extLst>
              </p:cNvPr>
              <p:cNvGrpSpPr/>
              <p:nvPr/>
            </p:nvGrpSpPr>
            <p:grpSpPr>
              <a:xfrm>
                <a:off x="5111580" y="3942016"/>
                <a:ext cx="1006201" cy="284456"/>
                <a:chOff x="5417944" y="3265116"/>
                <a:chExt cx="1432608" cy="611323"/>
              </a:xfrm>
            </p:grpSpPr>
            <p:pic>
              <p:nvPicPr>
                <p:cNvPr id="77" name="Graphic 60">
                  <a:extLst>
                    <a:ext uri="{FF2B5EF4-FFF2-40B4-BE49-F238E27FC236}">
                      <a16:creationId xmlns:a16="http://schemas.microsoft.com/office/drawing/2014/main" id="{E64573FB-61C3-6569-EC43-4518BFC0E6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rcRect/>
                <a:stretch/>
              </p:blipFill>
              <p:spPr bwMode="auto">
                <a:xfrm>
                  <a:off x="6393352" y="3265116"/>
                  <a:ext cx="457200" cy="611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8" name="TextBox 16">
                  <a:extLst>
                    <a:ext uri="{FF2B5EF4-FFF2-40B4-BE49-F238E27FC236}">
                      <a16:creationId xmlns:a16="http://schemas.microsoft.com/office/drawing/2014/main" id="{BB1B652F-E217-C771-996D-A063521727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7944" y="3338338"/>
                  <a:ext cx="1115568" cy="4299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r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700" noProof="0" dirty="0">
                      <a:latin typeface="Aptos" panose="020B00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Worker Nodes</a:t>
                  </a:r>
                </a:p>
              </p:txBody>
            </p:sp>
          </p:grpSp>
          <p:pic>
            <p:nvPicPr>
              <p:cNvPr id="79" name="Graphic 7" descr="Amazon Aurora service icon.">
                <a:extLst>
                  <a:ext uri="{FF2B5EF4-FFF2-40B4-BE49-F238E27FC236}">
                    <a16:creationId xmlns:a16="http://schemas.microsoft.com/office/drawing/2014/main" id="{811E1B53-75C5-11D4-6B72-42FF4BB27B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 bwMode="auto">
              <a:xfrm>
                <a:off x="4444566" y="4671303"/>
                <a:ext cx="338555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0" name="Graphic 7" descr="Amazon Aurora service icon.">
                <a:extLst>
                  <a:ext uri="{FF2B5EF4-FFF2-40B4-BE49-F238E27FC236}">
                    <a16:creationId xmlns:a16="http://schemas.microsoft.com/office/drawing/2014/main" id="{F0F9ED2C-73DA-CC67-398E-1CF1DCCDAE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 bwMode="auto">
              <a:xfrm>
                <a:off x="5386439" y="4681363"/>
                <a:ext cx="333570" cy="333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" name="TextBox 16">
                <a:extLst>
                  <a:ext uri="{FF2B5EF4-FFF2-40B4-BE49-F238E27FC236}">
                    <a16:creationId xmlns:a16="http://schemas.microsoft.com/office/drawing/2014/main" id="{6B8B64D4-CA1B-25F9-06C5-72220E559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95897" y="4480263"/>
                <a:ext cx="500767" cy="215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Reader</a:t>
                </a:r>
              </a:p>
            </p:txBody>
          </p:sp>
          <p:sp>
            <p:nvSpPr>
              <p:cNvPr id="82" name="TextBox 16">
                <a:extLst>
                  <a:ext uri="{FF2B5EF4-FFF2-40B4-BE49-F238E27FC236}">
                    <a16:creationId xmlns:a16="http://schemas.microsoft.com/office/drawing/2014/main" id="{F9B644B9-D9F2-C591-1ABD-386425C2D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1514" y="4464975"/>
                <a:ext cx="343111" cy="2181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Writer</a:t>
                </a:r>
              </a:p>
            </p:txBody>
          </p:sp>
          <p:cxnSp>
            <p:nvCxnSpPr>
              <p:cNvPr id="86" name="Straight Arrow Connector 85" descr="Right pointing horizontal arrow.">
                <a:extLst>
                  <a:ext uri="{FF2B5EF4-FFF2-40B4-BE49-F238E27FC236}">
                    <a16:creationId xmlns:a16="http://schemas.microsoft.com/office/drawing/2014/main" id="{24B76380-9B5D-5C33-3159-B702F6809B58}"/>
                  </a:ext>
                </a:extLst>
              </p:cNvPr>
              <p:cNvCxnSpPr>
                <a:cxnSpLocks/>
                <a:stCxn id="80" idx="1"/>
                <a:endCxn id="79" idx="3"/>
              </p:cNvCxnSpPr>
              <p:nvPr/>
            </p:nvCxnSpPr>
            <p:spPr>
              <a:xfrm flipH="1" flipV="1">
                <a:off x="4783121" y="4840581"/>
                <a:ext cx="603318" cy="756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none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16">
                <a:extLst>
                  <a:ext uri="{FF2B5EF4-FFF2-40B4-BE49-F238E27FC236}">
                    <a16:creationId xmlns:a16="http://schemas.microsoft.com/office/drawing/2014/main" id="{EC8F9132-4303-E35C-FBF8-C10DB96DE9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1998" y="4603018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Replication</a:t>
                </a:r>
              </a:p>
            </p:txBody>
          </p:sp>
          <p:pic>
            <p:nvPicPr>
              <p:cNvPr id="90" name="Graphic 18" descr="Amazon DocumentDB (with MongoDB compatibility) service icon.">
                <a:extLst>
                  <a:ext uri="{FF2B5EF4-FFF2-40B4-BE49-F238E27FC236}">
                    <a16:creationId xmlns:a16="http://schemas.microsoft.com/office/drawing/2014/main" id="{491CE4C6-5E4C-753F-A6CD-1740AE7FBA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rcRect/>
              <a:stretch/>
            </p:blipFill>
            <p:spPr bwMode="auto">
              <a:xfrm>
                <a:off x="3439440" y="4665754"/>
                <a:ext cx="366801" cy="366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4" name="TextBox 16">
                <a:extLst>
                  <a:ext uri="{FF2B5EF4-FFF2-40B4-BE49-F238E27FC236}">
                    <a16:creationId xmlns:a16="http://schemas.microsoft.com/office/drawing/2014/main" id="{8B3ABC89-C08B-941A-FAA1-CC5CEEB59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6588" y="4996419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Aurora</a:t>
                </a:r>
              </a:p>
            </p:txBody>
          </p:sp>
          <p:sp>
            <p:nvSpPr>
              <p:cNvPr id="95" name="TextBox 16">
                <a:extLst>
                  <a:ext uri="{FF2B5EF4-FFF2-40B4-BE49-F238E27FC236}">
                    <a16:creationId xmlns:a16="http://schemas.microsoft.com/office/drawing/2014/main" id="{14115FA9-3742-AE3B-243E-D175D7DF7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2398" y="4983486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Aurora</a:t>
                </a:r>
              </a:p>
            </p:txBody>
          </p:sp>
          <p:pic>
            <p:nvPicPr>
              <p:cNvPr id="98" name="Graphic 21" descr="Amazon ElastiCache service icon.">
                <a:extLst>
                  <a:ext uri="{FF2B5EF4-FFF2-40B4-BE49-F238E27FC236}">
                    <a16:creationId xmlns:a16="http://schemas.microsoft.com/office/drawing/2014/main" id="{A829DEA8-65E5-ACFB-717A-8B7D4477E8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 bwMode="auto">
              <a:xfrm>
                <a:off x="3959062" y="5152168"/>
                <a:ext cx="403830" cy="403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1" name="Straight Arrow Connector 140" descr="Left pointing horizontal arrow. ">
                <a:extLst>
                  <a:ext uri="{FF2B5EF4-FFF2-40B4-BE49-F238E27FC236}">
                    <a16:creationId xmlns:a16="http://schemas.microsoft.com/office/drawing/2014/main" id="{88D814A7-2D58-835E-F405-D21756361AA6}"/>
                  </a:ext>
                </a:extLst>
              </p:cNvPr>
              <p:cNvCxnSpPr>
                <a:cxnSpLocks/>
                <a:stCxn id="74" idx="0"/>
                <a:endCxn id="58" idx="1"/>
              </p:cNvCxnSpPr>
              <p:nvPr/>
            </p:nvCxnSpPr>
            <p:spPr>
              <a:xfrm flipV="1">
                <a:off x="4167041" y="3000537"/>
                <a:ext cx="628768" cy="92813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 descr="Left pointing horizontal arrow. ">
                <a:extLst>
                  <a:ext uri="{FF2B5EF4-FFF2-40B4-BE49-F238E27FC236}">
                    <a16:creationId xmlns:a16="http://schemas.microsoft.com/office/drawing/2014/main" id="{B310CD76-885E-B5C8-2F65-E0EECA227128}"/>
                  </a:ext>
                </a:extLst>
              </p:cNvPr>
              <p:cNvCxnSpPr>
                <a:cxnSpLocks/>
                <a:stCxn id="77" idx="0"/>
                <a:endCxn id="58" idx="3"/>
              </p:cNvCxnSpPr>
              <p:nvPr/>
            </p:nvCxnSpPr>
            <p:spPr>
              <a:xfrm flipH="1" flipV="1">
                <a:off x="5327436" y="3000537"/>
                <a:ext cx="629787" cy="94147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 descr="Double pointing horizontal arrow.">
                <a:extLst>
                  <a:ext uri="{FF2B5EF4-FFF2-40B4-BE49-F238E27FC236}">
                    <a16:creationId xmlns:a16="http://schemas.microsoft.com/office/drawing/2014/main" id="{EB88383D-9E91-2064-E246-968B8A48E259}"/>
                  </a:ext>
                </a:extLst>
              </p:cNvPr>
              <p:cNvCxnSpPr>
                <a:cxnSpLocks/>
                <a:stCxn id="90" idx="3"/>
                <a:endCxn id="74" idx="2"/>
              </p:cNvCxnSpPr>
              <p:nvPr/>
            </p:nvCxnSpPr>
            <p:spPr>
              <a:xfrm flipV="1">
                <a:off x="3806241" y="4213127"/>
                <a:ext cx="360799" cy="63602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 descr="Double pointing horizontal arrow.">
                <a:extLst>
                  <a:ext uri="{FF2B5EF4-FFF2-40B4-BE49-F238E27FC236}">
                    <a16:creationId xmlns:a16="http://schemas.microsoft.com/office/drawing/2014/main" id="{F58DDF62-7E8A-F558-070E-950352846AB3}"/>
                  </a:ext>
                </a:extLst>
              </p:cNvPr>
              <p:cNvCxnSpPr>
                <a:cxnSpLocks/>
                <a:stCxn id="98" idx="0"/>
                <a:endCxn id="74" idx="2"/>
              </p:cNvCxnSpPr>
              <p:nvPr/>
            </p:nvCxnSpPr>
            <p:spPr>
              <a:xfrm flipV="1">
                <a:off x="4160977" y="4213127"/>
                <a:ext cx="6063" cy="93904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 descr="Double pointing horizontal arrow.">
                <a:extLst>
                  <a:ext uri="{FF2B5EF4-FFF2-40B4-BE49-F238E27FC236}">
                    <a16:creationId xmlns:a16="http://schemas.microsoft.com/office/drawing/2014/main" id="{885BADD2-3D58-5CA7-9723-F430FDECDD13}"/>
                  </a:ext>
                </a:extLst>
              </p:cNvPr>
              <p:cNvCxnSpPr>
                <a:cxnSpLocks/>
                <a:stCxn id="79" idx="1"/>
                <a:endCxn id="74" idx="2"/>
              </p:cNvCxnSpPr>
              <p:nvPr/>
            </p:nvCxnSpPr>
            <p:spPr>
              <a:xfrm flipH="1" flipV="1">
                <a:off x="4167040" y="4213127"/>
                <a:ext cx="277526" cy="627454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5" name="Graphic 21" descr="Amazon ElastiCache service icon.">
                <a:extLst>
                  <a:ext uri="{FF2B5EF4-FFF2-40B4-BE49-F238E27FC236}">
                    <a16:creationId xmlns:a16="http://schemas.microsoft.com/office/drawing/2014/main" id="{985BE48C-8242-45B8-B05A-1A44414365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 bwMode="auto">
              <a:xfrm>
                <a:off x="5758316" y="5211877"/>
                <a:ext cx="403830" cy="403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66" name="Straight Arrow Connector 165" descr="Double pointing horizontal arrow.">
                <a:extLst>
                  <a:ext uri="{FF2B5EF4-FFF2-40B4-BE49-F238E27FC236}">
                    <a16:creationId xmlns:a16="http://schemas.microsoft.com/office/drawing/2014/main" id="{EB212EBD-278D-9B04-1867-765272F02BC8}"/>
                  </a:ext>
                </a:extLst>
              </p:cNvPr>
              <p:cNvCxnSpPr>
                <a:cxnSpLocks/>
                <a:stCxn id="165" idx="0"/>
                <a:endCxn id="77" idx="2"/>
              </p:cNvCxnSpPr>
              <p:nvPr/>
            </p:nvCxnSpPr>
            <p:spPr>
              <a:xfrm flipH="1" flipV="1">
                <a:off x="5957223" y="4226471"/>
                <a:ext cx="3008" cy="98540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 descr="Double pointing horizontal arrow.">
                <a:extLst>
                  <a:ext uri="{FF2B5EF4-FFF2-40B4-BE49-F238E27FC236}">
                    <a16:creationId xmlns:a16="http://schemas.microsoft.com/office/drawing/2014/main" id="{3BE92115-4E9D-57B4-E8F1-DBC1C086B024}"/>
                  </a:ext>
                </a:extLst>
              </p:cNvPr>
              <p:cNvCxnSpPr>
                <a:cxnSpLocks/>
                <a:endCxn id="77" idx="2"/>
              </p:cNvCxnSpPr>
              <p:nvPr/>
            </p:nvCxnSpPr>
            <p:spPr>
              <a:xfrm flipH="1" flipV="1">
                <a:off x="5957223" y="4226472"/>
                <a:ext cx="292567" cy="6216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 descr="Double pointing horizontal arrow.">
                <a:extLst>
                  <a:ext uri="{FF2B5EF4-FFF2-40B4-BE49-F238E27FC236}">
                    <a16:creationId xmlns:a16="http://schemas.microsoft.com/office/drawing/2014/main" id="{937B0E5F-03EE-F113-D798-C796BA483756}"/>
                  </a:ext>
                </a:extLst>
              </p:cNvPr>
              <p:cNvCxnSpPr>
                <a:cxnSpLocks/>
                <a:stCxn id="80" idx="3"/>
                <a:endCxn id="77" idx="2"/>
              </p:cNvCxnSpPr>
              <p:nvPr/>
            </p:nvCxnSpPr>
            <p:spPr>
              <a:xfrm flipV="1">
                <a:off x="5720009" y="4226472"/>
                <a:ext cx="237214" cy="62167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TextBox 16">
                <a:extLst>
                  <a:ext uri="{FF2B5EF4-FFF2-40B4-BE49-F238E27FC236}">
                    <a16:creationId xmlns:a16="http://schemas.microsoft.com/office/drawing/2014/main" id="{9802741A-1046-4FEF-BD58-714585A98D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3067" y="5341167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 err="1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Elasticache</a:t>
                </a:r>
                <a:endPara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TextBox 16">
                <a:extLst>
                  <a:ext uri="{FF2B5EF4-FFF2-40B4-BE49-F238E27FC236}">
                    <a16:creationId xmlns:a16="http://schemas.microsoft.com/office/drawing/2014/main" id="{8453CECC-C7D7-3F15-41CE-028E890E8F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4454" y="5283897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 err="1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Elasticache</a:t>
                </a:r>
                <a:endParaRPr lang="en-US" sz="8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1" name="TextBox 16">
                <a:extLst>
                  <a:ext uri="{FF2B5EF4-FFF2-40B4-BE49-F238E27FC236}">
                    <a16:creationId xmlns:a16="http://schemas.microsoft.com/office/drawing/2014/main" id="{CF451679-7A1E-35C2-C927-A1E7241631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030" y="5030157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MongoDB</a:t>
                </a:r>
              </a:p>
            </p:txBody>
          </p:sp>
          <p:sp>
            <p:nvSpPr>
              <p:cNvPr id="192" name="TextBox 16">
                <a:extLst>
                  <a:ext uri="{FF2B5EF4-FFF2-40B4-BE49-F238E27FC236}">
                    <a16:creationId xmlns:a16="http://schemas.microsoft.com/office/drawing/2014/main" id="{346E2B46-D65D-7330-9F95-EC3180F2E6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1518" y="5041756"/>
                <a:ext cx="58055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8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MongoDB</a:t>
                </a:r>
              </a:p>
            </p:txBody>
          </p:sp>
          <p:sp>
            <p:nvSpPr>
              <p:cNvPr id="196" name="TextBox 15">
                <a:extLst>
                  <a:ext uri="{FF2B5EF4-FFF2-40B4-BE49-F238E27FC236}">
                    <a16:creationId xmlns:a16="http://schemas.microsoft.com/office/drawing/2014/main" id="{58F13FA8-E56F-9E8C-E768-1D2E49D25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7710" y="1928591"/>
                <a:ext cx="1342852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sz="900" noProof="0" dirty="0">
                    <a:latin typeface="Aptos" panose="020B00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IGW</a:t>
                </a:r>
              </a:p>
            </p:txBody>
          </p:sp>
          <p:pic>
            <p:nvPicPr>
              <p:cNvPr id="97" name="Graphic 18" descr="Amazon DocumentDB (with MongoDB compatibility) service icon.">
                <a:extLst>
                  <a:ext uri="{FF2B5EF4-FFF2-40B4-BE49-F238E27FC236}">
                    <a16:creationId xmlns:a16="http://schemas.microsoft.com/office/drawing/2014/main" id="{8C88987C-FE4F-5648-6998-B17F4367B4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rcRect/>
              <a:stretch/>
            </p:blipFill>
            <p:spPr bwMode="auto">
              <a:xfrm>
                <a:off x="6278564" y="4651640"/>
                <a:ext cx="366801" cy="366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" name="Graphic 101" descr="VPN gateway resource icon for the Amazon VPC service.&#10;">
                <a:extLst>
                  <a:ext uri="{FF2B5EF4-FFF2-40B4-BE49-F238E27FC236}">
                    <a16:creationId xmlns:a16="http://schemas.microsoft.com/office/drawing/2014/main" id="{B0D39326-2749-03E5-AE78-EB4760E74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3070632" y="3922547"/>
                <a:ext cx="305383" cy="305383"/>
              </a:xfrm>
              <a:prstGeom prst="rect">
                <a:avLst/>
              </a:prstGeom>
            </p:spPr>
          </p:pic>
          <p:pic>
            <p:nvPicPr>
              <p:cNvPr id="64" name="Graphic 23" descr="Amazon Elastic Kubernetes Service (Amazon EKS) Service icon.">
                <a:extLst>
                  <a:ext uri="{FF2B5EF4-FFF2-40B4-BE49-F238E27FC236}">
                    <a16:creationId xmlns:a16="http://schemas.microsoft.com/office/drawing/2014/main" id="{CE2F8048-48FF-70CA-BFCB-D7B6E39693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 bwMode="auto">
              <a:xfrm>
                <a:off x="3436606" y="3710333"/>
                <a:ext cx="198850" cy="198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3FE7069F-B63E-7D3A-9D47-DECC2C95EE66}"/>
                </a:ext>
              </a:extLst>
            </p:cNvPr>
            <p:cNvSpPr txBox="1"/>
            <p:nvPr/>
          </p:nvSpPr>
          <p:spPr>
            <a:xfrm>
              <a:off x="6140399" y="4859218"/>
              <a:ext cx="81569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noProof="0" dirty="0">
                  <a:latin typeface="Aptos" panose="020B0004020202020204" pitchFamily="34" charset="0"/>
                </a:rPr>
                <a:t>Cross Region Replication</a:t>
              </a:r>
            </a:p>
          </p:txBody>
        </p:sp>
        <p:sp>
          <p:nvSpPr>
            <p:cNvPr id="293" name="Freeform 61" descr="Ninety degree arrow pointing down to the right.">
              <a:extLst>
                <a:ext uri="{FF2B5EF4-FFF2-40B4-BE49-F238E27FC236}">
                  <a16:creationId xmlns:a16="http://schemas.microsoft.com/office/drawing/2014/main" id="{B6C8C75E-FBE2-B931-3A8D-B984DE50A416}"/>
                </a:ext>
              </a:extLst>
            </p:cNvPr>
            <p:cNvSpPr/>
            <p:nvPr/>
          </p:nvSpPr>
          <p:spPr>
            <a:xfrm rot="5400000" flipH="1" flipV="1">
              <a:off x="628050" y="4527096"/>
              <a:ext cx="2031390" cy="1153865"/>
            </a:xfrm>
            <a:custGeom>
              <a:avLst/>
              <a:gdLst>
                <a:gd name="connsiteX0" fmla="*/ 1371600 w 1371600"/>
                <a:gd name="connsiteY0" fmla="*/ 711200 h 711200"/>
                <a:gd name="connsiteX1" fmla="*/ 1371600 w 1371600"/>
                <a:gd name="connsiteY1" fmla="*/ 0 h 711200"/>
                <a:gd name="connsiteX2" fmla="*/ 0 w 1371600"/>
                <a:gd name="connsiteY2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711200">
                  <a:moveTo>
                    <a:pt x="1371600" y="711200"/>
                  </a:moveTo>
                  <a:lnTo>
                    <a:pt x="1371600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headEnd type="none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noProof="0" dirty="0">
                  <a:latin typeface="Aptos" panose="020B0004020202020204" pitchFamily="34" charset="0"/>
                </a:rPr>
                <a:t>≈</a:t>
              </a:r>
            </a:p>
          </p:txBody>
        </p:sp>
      </p:grpSp>
      <p:cxnSp>
        <p:nvCxnSpPr>
          <p:cNvPr id="297" name="Elbow Connector 44" descr="Elbow vertical arrow pointing down (2).">
            <a:extLst>
              <a:ext uri="{FF2B5EF4-FFF2-40B4-BE49-F238E27FC236}">
                <a16:creationId xmlns:a16="http://schemas.microsoft.com/office/drawing/2014/main" id="{01D5BEB1-BE31-B534-F92B-EECCE8C6E68B}"/>
              </a:ext>
            </a:extLst>
          </p:cNvPr>
          <p:cNvCxnSpPr>
            <a:cxnSpLocks/>
            <a:stCxn id="30" idx="1"/>
            <a:endCxn id="377" idx="1"/>
          </p:cNvCxnSpPr>
          <p:nvPr/>
        </p:nvCxnSpPr>
        <p:spPr>
          <a:xfrm rot="10800000" flipH="1">
            <a:off x="1628490" y="2800745"/>
            <a:ext cx="5557567" cy="53709"/>
          </a:xfrm>
          <a:prstGeom prst="bentConnector5">
            <a:avLst>
              <a:gd name="adj1" fmla="val -11553"/>
              <a:gd name="adj2" fmla="val 2431430"/>
              <a:gd name="adj3" fmla="val 88842"/>
            </a:avLst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E2DA49AB-C9FA-3387-C930-B7E153FE33C1}"/>
              </a:ext>
            </a:extLst>
          </p:cNvPr>
          <p:cNvGrpSpPr/>
          <p:nvPr/>
        </p:nvGrpSpPr>
        <p:grpSpPr>
          <a:xfrm>
            <a:off x="6221023" y="2645798"/>
            <a:ext cx="2239962" cy="538928"/>
            <a:chOff x="2588901" y="2099498"/>
            <a:chExt cx="2239962" cy="538928"/>
          </a:xfrm>
        </p:grpSpPr>
        <p:pic>
          <p:nvPicPr>
            <p:cNvPr id="377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34F79B7E-87C5-05F6-A594-97B50668AF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 bwMode="auto">
            <a:xfrm>
              <a:off x="3553936" y="2099498"/>
              <a:ext cx="309892" cy="309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" name="TextBox 9">
              <a:extLst>
                <a:ext uri="{FF2B5EF4-FFF2-40B4-BE49-F238E27FC236}">
                  <a16:creationId xmlns:a16="http://schemas.microsoft.com/office/drawing/2014/main" id="{8C4E5C94-A3D7-0162-8989-F89D41DF6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901" y="2438371"/>
              <a:ext cx="223996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700" noProof="0" dirty="0">
                  <a:latin typeface="Aptos" panose="020B00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Frontend Hosting</a:t>
              </a:r>
            </a:p>
          </p:txBody>
        </p:sp>
      </p:grpSp>
      <p:sp>
        <p:nvSpPr>
          <p:cNvPr id="392" name="TextBox 391">
            <a:extLst>
              <a:ext uri="{FF2B5EF4-FFF2-40B4-BE49-F238E27FC236}">
                <a16:creationId xmlns:a16="http://schemas.microsoft.com/office/drawing/2014/main" id="{9B485184-0037-BAF8-1096-D71FBEBB6E82}"/>
              </a:ext>
            </a:extLst>
          </p:cNvPr>
          <p:cNvSpPr txBox="1"/>
          <p:nvPr/>
        </p:nvSpPr>
        <p:spPr>
          <a:xfrm>
            <a:off x="322888" y="1796044"/>
            <a:ext cx="78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u="none" strike="noStrike" noProof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Cros Region Replication</a:t>
            </a:r>
            <a:endParaRPr lang="en-US" sz="900" noProof="0" dirty="0">
              <a:latin typeface="Aptos" panose="020B0004020202020204" pitchFamily="34" charset="0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FF2D3C9A-3D76-4D1A-9007-5B1D6DAB50BE}"/>
              </a:ext>
            </a:extLst>
          </p:cNvPr>
          <p:cNvSpPr txBox="1"/>
          <p:nvPr/>
        </p:nvSpPr>
        <p:spPr>
          <a:xfrm>
            <a:off x="9249563" y="3730972"/>
            <a:ext cx="7713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noProof="0" dirty="0">
                <a:latin typeface="Aptos" panose="020B0004020202020204" pitchFamily="34" charset="0"/>
              </a:rPr>
              <a:t>EKS Cluster</a:t>
            </a:r>
          </a:p>
        </p:txBody>
      </p:sp>
      <p:sp>
        <p:nvSpPr>
          <p:cNvPr id="405" name="Freeform 61" descr="Ninety degree arrow pointing down to the right.">
            <a:extLst>
              <a:ext uri="{FF2B5EF4-FFF2-40B4-BE49-F238E27FC236}">
                <a16:creationId xmlns:a16="http://schemas.microsoft.com/office/drawing/2014/main" id="{B8CE3444-78A8-42E1-FD25-F9DC6E4397D6}"/>
              </a:ext>
            </a:extLst>
          </p:cNvPr>
          <p:cNvSpPr/>
          <p:nvPr/>
        </p:nvSpPr>
        <p:spPr>
          <a:xfrm rot="5400000" flipH="1">
            <a:off x="4413399" y="-254513"/>
            <a:ext cx="1441197" cy="4378640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noProof="0" dirty="0">
                <a:latin typeface="Aptos" panose="020B0004020202020204" pitchFamily="34" charset="0"/>
              </a:rPr>
              <a:t>≈</a:t>
            </a:r>
          </a:p>
        </p:txBody>
      </p:sp>
      <p:cxnSp>
        <p:nvCxnSpPr>
          <p:cNvPr id="407" name="Straight Arrow Connector 406" descr="Left pointing horizontal arrow. ">
            <a:extLst>
              <a:ext uri="{FF2B5EF4-FFF2-40B4-BE49-F238E27FC236}">
                <a16:creationId xmlns:a16="http://schemas.microsoft.com/office/drawing/2014/main" id="{81331F22-B890-04C5-E2C8-90050E78E6F2}"/>
              </a:ext>
            </a:extLst>
          </p:cNvPr>
          <p:cNvCxnSpPr>
            <a:cxnSpLocks/>
            <a:stCxn id="102" idx="3"/>
            <a:endCxn id="74" idx="1"/>
          </p:cNvCxnSpPr>
          <p:nvPr/>
        </p:nvCxnSpPr>
        <p:spPr>
          <a:xfrm flipV="1">
            <a:off x="2572276" y="4110156"/>
            <a:ext cx="630466" cy="434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 descr="Left pointing horizontal arrow. ">
            <a:extLst>
              <a:ext uri="{FF2B5EF4-FFF2-40B4-BE49-F238E27FC236}">
                <a16:creationId xmlns:a16="http://schemas.microsoft.com/office/drawing/2014/main" id="{DF1C80CC-9FF3-2301-3CC2-E8FC73812534}"/>
              </a:ext>
            </a:extLst>
          </p:cNvPr>
          <p:cNvCxnSpPr>
            <a:cxnSpLocks/>
            <a:stCxn id="252" idx="3"/>
            <a:endCxn id="269" idx="1"/>
          </p:cNvCxnSpPr>
          <p:nvPr/>
        </p:nvCxnSpPr>
        <p:spPr>
          <a:xfrm flipV="1">
            <a:off x="7973929" y="4111655"/>
            <a:ext cx="631328" cy="23149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4" descr="Elbow vertical arrow pointing down (2).">
            <a:extLst>
              <a:ext uri="{FF2B5EF4-FFF2-40B4-BE49-F238E27FC236}">
                <a16:creationId xmlns:a16="http://schemas.microsoft.com/office/drawing/2014/main" id="{4741AFA4-090E-979D-F20A-943277706D6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07746" y="4330540"/>
            <a:ext cx="6319471" cy="1996108"/>
          </a:xfrm>
          <a:prstGeom prst="bentConnector3">
            <a:avLst>
              <a:gd name="adj1" fmla="val 4448"/>
            </a:avLst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0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0CBC8B15-E44A-03BB-81CB-5D32A24BD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7186057" y="3183603"/>
            <a:ext cx="319630" cy="31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" name="Graphic 18" descr="Amazon Simple Email Service (Amazon SES) service icon.">
            <a:extLst>
              <a:ext uri="{FF2B5EF4-FFF2-40B4-BE49-F238E27FC236}">
                <a16:creationId xmlns:a16="http://schemas.microsoft.com/office/drawing/2014/main" id="{0C168A63-2DF3-4CE6-5DEB-C8184AA62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>
            <a:off x="7186057" y="3698906"/>
            <a:ext cx="366019" cy="366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70EBB9CB-91D3-8C39-0B32-340B4C455D16}"/>
              </a:ext>
            </a:extLst>
          </p:cNvPr>
          <p:cNvSpPr txBox="1"/>
          <p:nvPr/>
        </p:nvSpPr>
        <p:spPr>
          <a:xfrm>
            <a:off x="6938025" y="4071698"/>
            <a:ext cx="815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SES</a:t>
            </a:r>
            <a:endParaRPr lang="en-US" sz="900" noProof="0" dirty="0">
              <a:latin typeface="Aptos" panose="020B0004020202020204" pitchFamily="34" charset="0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CCCF72EE-88D7-833E-8B37-D78273CF7BFC}"/>
              </a:ext>
            </a:extLst>
          </p:cNvPr>
          <p:cNvSpPr txBox="1"/>
          <p:nvPr/>
        </p:nvSpPr>
        <p:spPr>
          <a:xfrm>
            <a:off x="6929161" y="3490281"/>
            <a:ext cx="815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SNS</a:t>
            </a:r>
            <a:endParaRPr lang="en-US" sz="900" noProof="0" dirty="0">
              <a:latin typeface="Aptos" panose="020B0004020202020204" pitchFamily="34" charset="0"/>
            </a:endParaRPr>
          </a:p>
        </p:txBody>
      </p:sp>
      <p:cxnSp>
        <p:nvCxnSpPr>
          <p:cNvPr id="442" name="Straight Arrow Connector 441" descr="Left pointing horizontal arrow. ">
            <a:extLst>
              <a:ext uri="{FF2B5EF4-FFF2-40B4-BE49-F238E27FC236}">
                <a16:creationId xmlns:a16="http://schemas.microsoft.com/office/drawing/2014/main" id="{A2E2ABDA-19A6-CC16-DCDE-F7F9F4C1783F}"/>
              </a:ext>
            </a:extLst>
          </p:cNvPr>
          <p:cNvCxnSpPr>
            <a:cxnSpLocks/>
            <a:stCxn id="430" idx="3"/>
            <a:endCxn id="269" idx="1"/>
          </p:cNvCxnSpPr>
          <p:nvPr/>
        </p:nvCxnSpPr>
        <p:spPr>
          <a:xfrm>
            <a:off x="7505687" y="3343418"/>
            <a:ext cx="1099570" cy="768237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 descr="Left pointing horizontal arrow. ">
            <a:extLst>
              <a:ext uri="{FF2B5EF4-FFF2-40B4-BE49-F238E27FC236}">
                <a16:creationId xmlns:a16="http://schemas.microsoft.com/office/drawing/2014/main" id="{0241DDF8-3DFA-E671-B049-A29B392E6CA7}"/>
              </a:ext>
            </a:extLst>
          </p:cNvPr>
          <p:cNvCxnSpPr>
            <a:cxnSpLocks/>
            <a:stCxn id="431" idx="3"/>
            <a:endCxn id="269" idx="1"/>
          </p:cNvCxnSpPr>
          <p:nvPr/>
        </p:nvCxnSpPr>
        <p:spPr>
          <a:xfrm>
            <a:off x="7552076" y="3881916"/>
            <a:ext cx="1053181" cy="22973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0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46D2F84B-CE17-4718-B1BB-94377DC9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1634163" y="3215669"/>
            <a:ext cx="319630" cy="31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" name="Graphic 18" descr="Amazon Simple Email Service (Amazon SES) service icon.">
            <a:extLst>
              <a:ext uri="{FF2B5EF4-FFF2-40B4-BE49-F238E27FC236}">
                <a16:creationId xmlns:a16="http://schemas.microsoft.com/office/drawing/2014/main" id="{7E9BFB84-7B86-9E43-DDCA-8AAFAFD77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>
            <a:off x="1628490" y="4578004"/>
            <a:ext cx="366019" cy="366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" name="TextBox 461">
            <a:extLst>
              <a:ext uri="{FF2B5EF4-FFF2-40B4-BE49-F238E27FC236}">
                <a16:creationId xmlns:a16="http://schemas.microsoft.com/office/drawing/2014/main" id="{DE967400-3DFE-4592-30BB-E95B531B6597}"/>
              </a:ext>
            </a:extLst>
          </p:cNvPr>
          <p:cNvSpPr txBox="1"/>
          <p:nvPr/>
        </p:nvSpPr>
        <p:spPr>
          <a:xfrm>
            <a:off x="1403652" y="4920000"/>
            <a:ext cx="815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SES</a:t>
            </a:r>
            <a:endParaRPr lang="en-US" sz="900" noProof="0" dirty="0">
              <a:latin typeface="Aptos" panose="020B0004020202020204" pitchFamily="34" charset="0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D7EC62AE-3FBC-C139-73A7-4977980F0741}"/>
              </a:ext>
            </a:extLst>
          </p:cNvPr>
          <p:cNvSpPr txBox="1"/>
          <p:nvPr/>
        </p:nvSpPr>
        <p:spPr>
          <a:xfrm>
            <a:off x="1377267" y="3522347"/>
            <a:ext cx="815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SNS</a:t>
            </a:r>
            <a:endParaRPr lang="en-US" sz="900" noProof="0" dirty="0">
              <a:latin typeface="Aptos" panose="020B0004020202020204" pitchFamily="34" charset="0"/>
            </a:endParaRPr>
          </a:p>
        </p:txBody>
      </p:sp>
      <p:cxnSp>
        <p:nvCxnSpPr>
          <p:cNvPr id="466" name="Straight Arrow Connector 465" descr="Left pointing horizontal arrow. ">
            <a:extLst>
              <a:ext uri="{FF2B5EF4-FFF2-40B4-BE49-F238E27FC236}">
                <a16:creationId xmlns:a16="http://schemas.microsoft.com/office/drawing/2014/main" id="{A051BB84-9068-E754-7253-00A35B38CE77}"/>
              </a:ext>
            </a:extLst>
          </p:cNvPr>
          <p:cNvCxnSpPr>
            <a:cxnSpLocks/>
            <a:stCxn id="461" idx="3"/>
            <a:endCxn id="74" idx="1"/>
          </p:cNvCxnSpPr>
          <p:nvPr/>
        </p:nvCxnSpPr>
        <p:spPr>
          <a:xfrm flipV="1">
            <a:off x="1994509" y="4110156"/>
            <a:ext cx="1208233" cy="65085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2" name="Graphic 17" descr="Amazon CloudWatch service icon.">
            <a:extLst>
              <a:ext uri="{FF2B5EF4-FFF2-40B4-BE49-F238E27FC236}">
                <a16:creationId xmlns:a16="http://schemas.microsoft.com/office/drawing/2014/main" id="{22A3051D-171B-8B2F-A025-F016BCC51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7424649" y="1760542"/>
            <a:ext cx="343510" cy="34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3" name="Graphic 17" descr="Amazon CloudWatch service icon.">
            <a:extLst>
              <a:ext uri="{FF2B5EF4-FFF2-40B4-BE49-F238E27FC236}">
                <a16:creationId xmlns:a16="http://schemas.microsoft.com/office/drawing/2014/main" id="{8BE81F04-F6C1-9584-D4D6-2F44F36AD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1468005" y="1770820"/>
            <a:ext cx="343510" cy="34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4" name="TextBox 473">
            <a:extLst>
              <a:ext uri="{FF2B5EF4-FFF2-40B4-BE49-F238E27FC236}">
                <a16:creationId xmlns:a16="http://schemas.microsoft.com/office/drawing/2014/main" id="{07A8F07C-4A1D-55C7-9D46-42388B5178C8}"/>
              </a:ext>
            </a:extLst>
          </p:cNvPr>
          <p:cNvSpPr txBox="1"/>
          <p:nvPr/>
        </p:nvSpPr>
        <p:spPr>
          <a:xfrm>
            <a:off x="1210211" y="2123431"/>
            <a:ext cx="875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 u="none" strike="noStrike" noProof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CloudWatch (ALB/EKS/Aurora/MongoDB</a:t>
            </a:r>
            <a:endParaRPr lang="en-US" sz="800" noProof="0" dirty="0">
              <a:latin typeface="Aptos" panose="020B0004020202020204" pitchFamily="34" charset="0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56FB921F-3ED8-3C69-1C76-A510C2D81C4B}"/>
              </a:ext>
            </a:extLst>
          </p:cNvPr>
          <p:cNvSpPr txBox="1"/>
          <p:nvPr/>
        </p:nvSpPr>
        <p:spPr>
          <a:xfrm>
            <a:off x="7726420" y="1711742"/>
            <a:ext cx="875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 u="none" strike="noStrike" noProof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CloudWatch (ALB/EKS/Aurora/MongoDB</a:t>
            </a:r>
            <a:endParaRPr lang="en-US" sz="800" noProof="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73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139</Words>
  <Application>Microsoft Macintosh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Xavier Sarzosa Virgili</dc:creator>
  <cp:lastModifiedBy>Pablo Xavier Sarzosa Virgili</cp:lastModifiedBy>
  <cp:revision>1</cp:revision>
  <dcterms:created xsi:type="dcterms:W3CDTF">2025-11-25T19:00:49Z</dcterms:created>
  <dcterms:modified xsi:type="dcterms:W3CDTF">2025-11-26T00:15:58Z</dcterms:modified>
</cp:coreProperties>
</file>